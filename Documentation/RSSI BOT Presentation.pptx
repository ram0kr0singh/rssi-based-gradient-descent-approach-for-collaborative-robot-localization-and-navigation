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514" r:id="rId3"/>
    <p:sldId id="499" r:id="rId4"/>
    <p:sldId id="500" r:id="rId5"/>
    <p:sldId id="501" r:id="rId6"/>
    <p:sldId id="512" r:id="rId7"/>
    <p:sldId id="513" r:id="rId8"/>
    <p:sldId id="522" r:id="rId9"/>
    <p:sldId id="508" r:id="rId10"/>
    <p:sldId id="525" r:id="rId11"/>
    <p:sldId id="526" r:id="rId12"/>
    <p:sldId id="527" r:id="rId13"/>
    <p:sldId id="521" r:id="rId14"/>
    <p:sldId id="524" r:id="rId15"/>
    <p:sldId id="519" r:id="rId16"/>
    <p:sldId id="506" r:id="rId17"/>
    <p:sldId id="269" r:id="rId18"/>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F68433-2029-4B3A-97F8-DE2A08570FF5}" v="68" dt="2026-04-11T17:44:40.2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93" autoAdjust="0"/>
    <p:restoredTop sz="94681"/>
  </p:normalViewPr>
  <p:slideViewPr>
    <p:cSldViewPr>
      <p:cViewPr varScale="1">
        <p:scale>
          <a:sx n="59" d="100"/>
          <a:sy n="59" d="100"/>
        </p:scale>
        <p:origin x="972" y="5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11-04-2026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BE92-2836-2377-AC03-A2DE9BD9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9794-528F-622F-43DD-4480761AC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919C-92B7-D9DB-548B-F07A4AA3A29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3746616-91E6-EEB7-1856-D004D3BB5C8A}"/>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99652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E8AE-6B96-A0B7-5B01-1E66F709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B1102-F4C9-B3F6-1EBC-67E21A0E1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09EEB-322A-5BF0-4BAB-89D92C041C1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0D25FF-334B-A586-E002-BDB8BEB75D2B}"/>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4163471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462E2-0204-8283-093B-48B5EEC6A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5A4AB-A8CF-204B-34B6-AC6A02B94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6B3CD-EB81-B23F-13F4-80676AE1FED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6B27D2A-5003-0ADC-9B0B-4B468BC00ABB}"/>
              </a:ext>
            </a:extLst>
          </p:cNvPr>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836209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661C-EE8E-4550-79FC-6D2DE6283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3BE65-ABC2-C31E-F7BF-5074E255A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0FA71-42DC-F866-0B0B-A1E7E3AEB70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A24EB81-AFC1-22F2-9431-A4C105BD9B2A}"/>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793938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C95A-60D2-AADC-209A-6C644AC5B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6026D-37AE-89D5-8042-0E1615972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7582B-0F03-5A34-FF1B-F727685023A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F1F283E-B4A3-A202-D93D-64CFCAD98E8D}"/>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756383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6205-70B5-C0F8-1842-B50EE64E1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201FF-EAF4-47DF-7F38-4C9048241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52749-E3E2-57CB-90F8-FDE3F45BF2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0C360F7-B0D5-881A-942C-0563F90ACF5F}"/>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359461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CC8C0-E807-F8B9-C114-406229CAF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3C81B-66F0-9C75-BA94-A065F6226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AB335-2E62-A3CA-3D55-E53B98EF60E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5FBA475-FC15-CEED-F278-98DC8B88A587}"/>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1400343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3277129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3C4F8-73BC-6710-25FD-1B232043F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F887F-21E3-C5F0-DECF-CBAD03380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84E50-FBF0-9F7C-CFC8-A52B72460B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95FE9CA-9772-03BC-22D2-E10721136483}"/>
              </a:ext>
            </a:extLst>
          </p:cNvPr>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3689756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16</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11-04-2026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65174" y="2204864"/>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22061" y="2367609"/>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First Year </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sp>
        <p:nvSpPr>
          <p:cNvPr id="5" name="TextBox 4">
            <a:extLst>
              <a:ext uri="{FF2B5EF4-FFF2-40B4-BE49-F238E27FC236}">
                <a16:creationId xmlns:a16="http://schemas.microsoft.com/office/drawing/2014/main" id="{3DF18845-4075-32C5-8F4A-4F40F86E837F}"/>
              </a:ext>
            </a:extLst>
          </p:cNvPr>
          <p:cNvSpPr txBox="1"/>
          <p:nvPr/>
        </p:nvSpPr>
        <p:spPr>
          <a:xfrm>
            <a:off x="1414310" y="1372508"/>
            <a:ext cx="6608273" cy="1200329"/>
          </a:xfrm>
          <a:prstGeom prst="rect">
            <a:avLst/>
          </a:prstGeom>
          <a:noFill/>
        </p:spPr>
        <p:txBody>
          <a:bodyPr wrap="square">
            <a:spAutoFit/>
          </a:bodyPr>
          <a:lstStyle/>
          <a:p>
            <a:pPr algn="ctr">
              <a:buSzPct val="25000"/>
            </a:pPr>
            <a:r>
              <a:rPr lang="en-US" sz="2400" b="1" dirty="0">
                <a:solidFill>
                  <a:srgbClr val="C00000"/>
                </a:solidFill>
                <a:ea typeface="Cambria" panose="02040503050406030204" pitchFamily="18" charset="0"/>
                <a:cs typeface="Times New Roman" panose="02020603050405020304" pitchFamily="18" charset="0"/>
                <a:sym typeface="Arial"/>
              </a:rPr>
              <a:t>RSSI-Based Gradient Descent Approach for Collaborative Robot Localization and Navigation</a:t>
            </a:r>
            <a:endParaRPr lang="en-IN" sz="2400" b="1" dirty="0">
              <a:solidFill>
                <a:srgbClr val="C00000"/>
              </a:solidFill>
              <a:ea typeface="Cambria" panose="02040503050406030204" pitchFamily="18" charset="0"/>
              <a:cs typeface="Times New Roman" panose="02020603050405020304" pitchFamily="18" charset="0"/>
              <a:sym typeface="Arial"/>
            </a:endParaRPr>
          </a:p>
          <a:p>
            <a:pPr lvl="0" algn="ctr">
              <a:buSzPct val="25000"/>
            </a:pPr>
            <a:endParaRPr lang="en-IN" sz="2400" b="1" dirty="0">
              <a:solidFill>
                <a:srgbClr val="C00000"/>
              </a:solidFill>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369332"/>
          </a:xfrm>
          <a:prstGeom prst="rect">
            <a:avLst/>
          </a:prstGeom>
          <a:noFill/>
        </p:spPr>
        <p:txBody>
          <a:bodyPr wrap="square">
            <a:spAutoFit/>
          </a:bodyPr>
          <a:lstStyle/>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 </a:t>
            </a:r>
            <a:r>
              <a:rPr lang="en-IN" b="1" dirty="0">
                <a:ea typeface="Cambria" panose="02040503050406030204" pitchFamily="18" charset="0"/>
                <a:cs typeface="Times New Roman" panose="02020603050405020304" pitchFamily="18" charset="0"/>
              </a:rPr>
              <a:t>Dr.</a:t>
            </a:r>
            <a:r>
              <a:rPr lang="en-IN" dirty="0"/>
              <a:t> </a:t>
            </a:r>
            <a:r>
              <a:rPr lang="en-IN" b="1" dirty="0">
                <a:ea typeface="Cambria" panose="02040503050406030204" pitchFamily="18" charset="0"/>
                <a:cs typeface="Times New Roman" panose="02020603050405020304" pitchFamily="18" charset="0"/>
              </a:rPr>
              <a:t>Shweta</a:t>
            </a:r>
            <a:r>
              <a:rPr lang="en-IN" dirty="0"/>
              <a:t> </a:t>
            </a:r>
            <a:r>
              <a:rPr lang="en-IN" b="1" dirty="0">
                <a:ea typeface="Cambria" panose="02040503050406030204" pitchFamily="18" charset="0"/>
                <a:cs typeface="Times New Roman" panose="02020603050405020304" pitchFamily="18" charset="0"/>
              </a:rPr>
              <a:t>Agarwal</a:t>
            </a:r>
            <a:endParaRPr lang="en-IN" sz="1800" b="1" dirty="0">
              <a:solidFill>
                <a:srgbClr val="0070C0"/>
              </a:solidFill>
              <a:ea typeface="Cambria" panose="02040503050406030204" pitchFamily="18" charset="0"/>
              <a:cs typeface="Times New Roman" panose="02020603050405020304" pitchFamily="18" charset="0"/>
              <a:sym typeface="Arial"/>
            </a:endParaRPr>
          </a:p>
        </p:txBody>
      </p:sp>
      <p:graphicFrame>
        <p:nvGraphicFramePr>
          <p:cNvPr id="3" name="Table 2">
            <a:extLst>
              <a:ext uri="{FF2B5EF4-FFF2-40B4-BE49-F238E27FC236}">
                <a16:creationId xmlns:a16="http://schemas.microsoft.com/office/drawing/2014/main" id="{BA128788-A6A1-1165-0E5E-ED79948B8B75}"/>
              </a:ext>
            </a:extLst>
          </p:cNvPr>
          <p:cNvGraphicFramePr>
            <a:graphicFrameLocks noGrp="1"/>
          </p:cNvGraphicFramePr>
          <p:nvPr>
            <p:extLst>
              <p:ext uri="{D42A27DB-BD31-4B8C-83A1-F6EECF244321}">
                <p14:modId xmlns:p14="http://schemas.microsoft.com/office/powerpoint/2010/main" val="3887109503"/>
              </p:ext>
            </p:extLst>
          </p:nvPr>
        </p:nvGraphicFramePr>
        <p:xfrm>
          <a:off x="1565174" y="3394667"/>
          <a:ext cx="6306546" cy="2194560"/>
        </p:xfrm>
        <a:graphic>
          <a:graphicData uri="http://schemas.openxmlformats.org/drawingml/2006/table">
            <a:tbl>
              <a:tblPr firstRow="1" bandRow="1">
                <a:tableStyleId>{5C22544A-7EE6-4342-B048-85BDC9FD1C3A}</a:tableStyleId>
              </a:tblPr>
              <a:tblGrid>
                <a:gridCol w="3153273">
                  <a:extLst>
                    <a:ext uri="{9D8B030D-6E8A-4147-A177-3AD203B41FA5}">
                      <a16:colId xmlns:a16="http://schemas.microsoft.com/office/drawing/2014/main" val="4072556185"/>
                    </a:ext>
                  </a:extLst>
                </a:gridCol>
                <a:gridCol w="3153273">
                  <a:extLst>
                    <a:ext uri="{9D8B030D-6E8A-4147-A177-3AD203B41FA5}">
                      <a16:colId xmlns:a16="http://schemas.microsoft.com/office/drawing/2014/main" val="2559304611"/>
                    </a:ext>
                  </a:extLst>
                </a:gridCol>
              </a:tblGrid>
              <a:tr h="347984">
                <a:tc>
                  <a:txBody>
                    <a:bodyPr/>
                    <a:lstStyle/>
                    <a:p>
                      <a:pPr algn="ctr"/>
                      <a:r>
                        <a:rPr lang="en-IN" dirty="0"/>
                        <a:t>ROLL</a:t>
                      </a:r>
                    </a:p>
                  </a:txBody>
                  <a:tcPr/>
                </a:tc>
                <a:tc>
                  <a:txBody>
                    <a:bodyPr/>
                    <a:lstStyle/>
                    <a:p>
                      <a:pPr algn="ctr"/>
                      <a:r>
                        <a:rPr lang="en-IN" dirty="0"/>
                        <a:t>NAME</a:t>
                      </a:r>
                    </a:p>
                  </a:txBody>
                  <a:tcPr/>
                </a:tc>
                <a:extLst>
                  <a:ext uri="{0D108BD9-81ED-4DB2-BD59-A6C34878D82A}">
                    <a16:rowId xmlns:a16="http://schemas.microsoft.com/office/drawing/2014/main" val="2886277928"/>
                  </a:ext>
                </a:extLst>
              </a:tr>
              <a:tr h="347984">
                <a:tc>
                  <a:txBody>
                    <a:bodyPr/>
                    <a:lstStyle/>
                    <a:p>
                      <a:pPr algn="ctr"/>
                      <a:r>
                        <a:rPr lang="en-IN" dirty="0"/>
                        <a:t>2501940002</a:t>
                      </a:r>
                    </a:p>
                  </a:txBody>
                  <a:tcPr/>
                </a:tc>
                <a:tc>
                  <a:txBody>
                    <a:bodyPr/>
                    <a:lstStyle/>
                    <a:p>
                      <a:pPr algn="ctr"/>
                      <a:r>
                        <a:rPr lang="en-IN" dirty="0"/>
                        <a:t>Ram Kumar Singh</a:t>
                      </a:r>
                    </a:p>
                  </a:txBody>
                  <a:tcPr/>
                </a:tc>
                <a:extLst>
                  <a:ext uri="{0D108BD9-81ED-4DB2-BD59-A6C34878D82A}">
                    <a16:rowId xmlns:a16="http://schemas.microsoft.com/office/drawing/2014/main" val="551576382"/>
                  </a:ext>
                </a:extLst>
              </a:tr>
              <a:tr h="347984">
                <a:tc>
                  <a:txBody>
                    <a:bodyPr/>
                    <a:lstStyle/>
                    <a:p>
                      <a:pPr algn="ctr"/>
                      <a:r>
                        <a:rPr lang="en-IN" dirty="0"/>
                        <a:t>2501940014</a:t>
                      </a:r>
                    </a:p>
                  </a:txBody>
                  <a:tcPr/>
                </a:tc>
                <a:tc>
                  <a:txBody>
                    <a:bodyPr/>
                    <a:lstStyle/>
                    <a:p>
                      <a:pPr algn="ctr"/>
                      <a:r>
                        <a:rPr lang="en-IN" dirty="0"/>
                        <a:t>Shubham Goel</a:t>
                      </a:r>
                    </a:p>
                  </a:txBody>
                  <a:tcPr/>
                </a:tc>
                <a:extLst>
                  <a:ext uri="{0D108BD9-81ED-4DB2-BD59-A6C34878D82A}">
                    <a16:rowId xmlns:a16="http://schemas.microsoft.com/office/drawing/2014/main" val="1451785607"/>
                  </a:ext>
                </a:extLst>
              </a:tr>
              <a:tr h="347984">
                <a:tc>
                  <a:txBody>
                    <a:bodyPr/>
                    <a:lstStyle/>
                    <a:p>
                      <a:pPr algn="ctr"/>
                      <a:r>
                        <a:rPr lang="en-IN" dirty="0"/>
                        <a:t>2501940019</a:t>
                      </a:r>
                    </a:p>
                  </a:txBody>
                  <a:tcPr/>
                </a:tc>
                <a:tc>
                  <a:txBody>
                    <a:bodyPr/>
                    <a:lstStyle/>
                    <a:p>
                      <a:pPr algn="ctr"/>
                      <a:r>
                        <a:rPr lang="en-IN" dirty="0"/>
                        <a:t>Jagdish Nayak</a:t>
                      </a:r>
                    </a:p>
                  </a:txBody>
                  <a:tcPr/>
                </a:tc>
                <a:extLst>
                  <a:ext uri="{0D108BD9-81ED-4DB2-BD59-A6C34878D82A}">
                    <a16:rowId xmlns:a16="http://schemas.microsoft.com/office/drawing/2014/main" val="2833882756"/>
                  </a:ext>
                </a:extLst>
              </a:tr>
              <a:tr h="347984">
                <a:tc>
                  <a:txBody>
                    <a:bodyPr/>
                    <a:lstStyle/>
                    <a:p>
                      <a:pPr algn="ctr"/>
                      <a:r>
                        <a:rPr lang="en-IN" dirty="0"/>
                        <a:t>2501940055</a:t>
                      </a:r>
                    </a:p>
                  </a:txBody>
                  <a:tcPr/>
                </a:tc>
                <a:tc>
                  <a:txBody>
                    <a:bodyPr/>
                    <a:lstStyle/>
                    <a:p>
                      <a:pPr algn="ctr"/>
                      <a:r>
                        <a:rPr lang="en-IN" dirty="0"/>
                        <a:t>Tushar Singh</a:t>
                      </a:r>
                    </a:p>
                  </a:txBody>
                  <a:tcPr/>
                </a:tc>
                <a:extLst>
                  <a:ext uri="{0D108BD9-81ED-4DB2-BD59-A6C34878D82A}">
                    <a16:rowId xmlns:a16="http://schemas.microsoft.com/office/drawing/2014/main" val="1046680667"/>
                  </a:ext>
                </a:extLst>
              </a:tr>
              <a:tr h="347984">
                <a:tc>
                  <a:txBody>
                    <a:bodyPr/>
                    <a:lstStyle/>
                    <a:p>
                      <a:pPr algn="ctr"/>
                      <a:r>
                        <a:rPr lang="en-IN" dirty="0"/>
                        <a:t>2501940065</a:t>
                      </a:r>
                    </a:p>
                  </a:txBody>
                  <a:tcPr/>
                </a:tc>
                <a:tc>
                  <a:txBody>
                    <a:bodyPr/>
                    <a:lstStyle/>
                    <a:p>
                      <a:pPr algn="ctr"/>
                      <a:r>
                        <a:rPr lang="en-IN" dirty="0"/>
                        <a:t>Vishakha Gaur</a:t>
                      </a:r>
                    </a:p>
                  </a:txBody>
                  <a:tcPr/>
                </a:tc>
                <a:extLst>
                  <a:ext uri="{0D108BD9-81ED-4DB2-BD59-A6C34878D82A}">
                    <a16:rowId xmlns:a16="http://schemas.microsoft.com/office/drawing/2014/main" val="1824225267"/>
                  </a:ext>
                </a:extLst>
              </a:tr>
            </a:tbl>
          </a:graphicData>
        </a:graphic>
      </p:graphicFrame>
    </p:spTree>
    <p:extLst>
      <p:ext uri="{BB962C8B-B14F-4D97-AF65-F5344CB8AC3E}">
        <p14:creationId xmlns:p14="http://schemas.microsoft.com/office/powerpoint/2010/main" val="2635633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50BAF04E-3B08-CFEA-4B0F-5B567169C189}"/>
              </a:ext>
            </a:extLst>
          </p:cNvPr>
          <p:cNvSpPr txBox="1"/>
          <p:nvPr/>
        </p:nvSpPr>
        <p:spPr>
          <a:xfrm>
            <a:off x="179512" y="1196752"/>
            <a:ext cx="8784976" cy="4770537"/>
          </a:xfrm>
          <a:prstGeom prst="rect">
            <a:avLst/>
          </a:prstGeom>
          <a:noFill/>
        </p:spPr>
        <p:txBody>
          <a:bodyPr wrap="square">
            <a:spAutoFit/>
          </a:bodyPr>
          <a:lstStyle/>
          <a:p>
            <a:pPr algn="just"/>
            <a:r>
              <a:rPr lang="en-US" sz="1600" dirty="0"/>
              <a:t>Collaborative robotic systems are being used more in places where GPS and maps are not available or are not working well. The usual ways of navigating often need a central control system or special equipment, which can limit how well the system can be scaled up and adapted. To deal with these problems, this project proposes a system where robots work together using a method called RSSI-based descent. This system lets multiple robots find each other and work together on their own in places.</a:t>
            </a:r>
          </a:p>
          <a:p>
            <a:pPr algn="just"/>
            <a:endParaRPr lang="en-US" sz="1600" dirty="0"/>
          </a:p>
          <a:p>
            <a:pPr algn="just"/>
            <a:r>
              <a:rPr lang="en-US" sz="1600" dirty="0"/>
              <a:t>The system uses something called Received Signal Strength Indicator values, which are gotten from communication between robots to figure out how close they are to each other. Each robot looks at the RSSI value. Uses a special algorithm to decide which way to move to get a stronger signal. By adjusting their movement based on changes in the RSSI, robots slowly move closer to each other and start working together without needing GPS or someone to supervise them.</a:t>
            </a:r>
          </a:p>
          <a:p>
            <a:pPr algn="just"/>
            <a:endParaRPr lang="en-US" sz="1600" dirty="0"/>
          </a:p>
          <a:p>
            <a:pPr algn="just"/>
            <a:r>
              <a:rPr lang="en-US" sz="1600" dirty="0"/>
              <a:t>This approach does not need a central control system, so each robot can make its own decisions about how to navigate. This makes the system more robust, able to handle robots and able to keep working even if some robots fail, all while keeping the hardware simple. The smart part of the system is mostly in the software, which </a:t>
            </a:r>
            <a:r>
              <a:rPr lang="en-US" sz="1600" dirty="0" err="1"/>
              <a:t>optimises</a:t>
            </a:r>
            <a:r>
              <a:rPr lang="en-US" sz="1600" dirty="0"/>
              <a:t> and makes decisions. The project shows that this method works through simulations and by building a version of the system, which makes it a good choice for things like navigating inside buildings, working with swarms of robots automating warehouses and searching for people in emergencies.</a:t>
            </a:r>
            <a:endParaRPr lang="en-IN" sz="1600" dirty="0"/>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917102F-3CB1-9547-F6B6-1AD294B22FDD}"/>
              </a:ext>
            </a:extLst>
          </p:cNvPr>
          <p:cNvSpPr>
            <a:spLocks noChangeArrowheads="1"/>
          </p:cNvSpPr>
          <p:nvPr/>
        </p:nvSpPr>
        <p:spPr bwMode="auto">
          <a:xfrm>
            <a:off x="179512" y="1074040"/>
            <a:ext cx="896448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design and develop a </a:t>
            </a:r>
            <a:r>
              <a:rPr kumimoji="0" lang="en-US" altLang="en-US" sz="1600" b="1" i="0" u="none" strike="noStrike" cap="none" normalizeH="0" baseline="0" dirty="0">
                <a:ln>
                  <a:noFill/>
                </a:ln>
                <a:solidFill>
                  <a:schemeClr val="tx1"/>
                </a:solidFill>
                <a:effectLst/>
              </a:rPr>
              <a:t>GPS-free localization and navigation system</a:t>
            </a:r>
            <a:r>
              <a:rPr kumimoji="0" lang="en-US" altLang="en-US" sz="1600" b="0" i="0" u="none" strike="noStrike" cap="none" normalizeH="0" baseline="0" dirty="0">
                <a:ln>
                  <a:noFill/>
                </a:ln>
                <a:solidFill>
                  <a:schemeClr val="tx1"/>
                </a:solidFill>
                <a:effectLst/>
              </a:rPr>
              <a:t> for collaborative robots in indoor environments.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utilize </a:t>
            </a:r>
            <a:r>
              <a:rPr kumimoji="0" lang="en-US" altLang="en-US" sz="1600" b="1" i="0" u="none" strike="noStrike" cap="none" normalizeH="0" baseline="0" dirty="0">
                <a:ln>
                  <a:noFill/>
                </a:ln>
                <a:solidFill>
                  <a:schemeClr val="tx1"/>
                </a:solidFill>
                <a:effectLst/>
              </a:rPr>
              <a:t>RSSI values</a:t>
            </a:r>
            <a:r>
              <a:rPr kumimoji="0" lang="en-US" altLang="en-US" sz="1600" b="0" i="0" u="none" strike="noStrike" cap="none" normalizeH="0" baseline="0" dirty="0">
                <a:ln>
                  <a:noFill/>
                </a:ln>
                <a:solidFill>
                  <a:schemeClr val="tx1"/>
                </a:solidFill>
                <a:effectLst/>
              </a:rPr>
              <a:t> as a feedback mechanism for estimating </a:t>
            </a:r>
            <a:r>
              <a:rPr kumimoji="0" lang="en-US" altLang="en-US" sz="1600" b="1" i="0" u="none" strike="noStrike" cap="none" normalizeH="0" baseline="0" dirty="0">
                <a:ln>
                  <a:noFill/>
                </a:ln>
                <a:solidFill>
                  <a:schemeClr val="tx1"/>
                </a:solidFill>
                <a:effectLst/>
              </a:rPr>
              <a:t>relative distances</a:t>
            </a:r>
            <a:r>
              <a:rPr kumimoji="0" lang="en-US" altLang="en-US" sz="1600" b="0" i="0" u="none" strike="noStrike" cap="none" normalizeH="0" baseline="0" dirty="0">
                <a:ln>
                  <a:noFill/>
                </a:ln>
                <a:solidFill>
                  <a:schemeClr val="tx1"/>
                </a:solidFill>
                <a:effectLst/>
              </a:rPr>
              <a:t> between robots.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implement an </a:t>
            </a:r>
            <a:r>
              <a:rPr kumimoji="0" lang="en-US" altLang="en-US" sz="1600" b="1" i="0" u="none" strike="noStrike" cap="none" normalizeH="0" baseline="0" dirty="0">
                <a:ln>
                  <a:noFill/>
                </a:ln>
                <a:solidFill>
                  <a:schemeClr val="tx1"/>
                </a:solidFill>
                <a:effectLst/>
              </a:rPr>
              <a:t>RSSI-based distance estimation model</a:t>
            </a:r>
            <a:r>
              <a:rPr kumimoji="0" lang="en-US" altLang="en-US" sz="1600" b="0" i="0" u="none" strike="noStrike" cap="none" normalizeH="0" baseline="0" dirty="0">
                <a:ln>
                  <a:noFill/>
                </a:ln>
                <a:solidFill>
                  <a:schemeClr val="tx1"/>
                </a:solidFill>
                <a:effectLst/>
              </a:rPr>
              <a:t> for real-time proximity detection.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develop and apply a </a:t>
            </a:r>
            <a:r>
              <a:rPr kumimoji="0" lang="en-US" altLang="en-US" sz="1600" b="1" i="0" u="none" strike="noStrike" cap="none" normalizeH="0" baseline="0" dirty="0">
                <a:ln>
                  <a:noFill/>
                </a:ln>
                <a:solidFill>
                  <a:schemeClr val="tx1"/>
                </a:solidFill>
                <a:effectLst/>
              </a:rPr>
              <a:t>gradient descent–based optimization algorithm</a:t>
            </a:r>
            <a:r>
              <a:rPr kumimoji="0" lang="en-US" altLang="en-US" sz="1600" b="0" i="0" u="none" strike="noStrike" cap="none" normalizeH="0" baseline="0" dirty="0">
                <a:ln>
                  <a:noFill/>
                </a:ln>
                <a:solidFill>
                  <a:schemeClr val="tx1"/>
                </a:solidFill>
                <a:effectLst/>
              </a:rPr>
              <a:t> for optimal movement and convergence.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design a </a:t>
            </a:r>
            <a:r>
              <a:rPr kumimoji="0" lang="en-US" altLang="en-US" sz="1600" b="1" i="0" u="none" strike="noStrike" cap="none" normalizeH="0" baseline="0" dirty="0">
                <a:ln>
                  <a:noFill/>
                </a:ln>
                <a:solidFill>
                  <a:schemeClr val="tx1"/>
                </a:solidFill>
                <a:effectLst/>
              </a:rPr>
              <a:t>decentralized multi-robot framework</a:t>
            </a:r>
            <a:r>
              <a:rPr kumimoji="0" lang="en-US" altLang="en-US" sz="1600" b="0" i="0" u="none" strike="noStrike" cap="none" normalizeH="0" baseline="0" dirty="0">
                <a:ln>
                  <a:noFill/>
                </a:ln>
                <a:solidFill>
                  <a:schemeClr val="tx1"/>
                </a:solidFill>
                <a:effectLst/>
              </a:rPr>
              <a:t> enabling independent decision-making without a central controller.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enable </a:t>
            </a:r>
            <a:r>
              <a:rPr kumimoji="0" lang="en-US" altLang="en-US" sz="1600" b="1" i="0" u="none" strike="noStrike" cap="none" normalizeH="0" baseline="0" dirty="0">
                <a:ln>
                  <a:noFill/>
                </a:ln>
                <a:solidFill>
                  <a:schemeClr val="tx1"/>
                </a:solidFill>
                <a:effectLst/>
              </a:rPr>
              <a:t>basic autonomous navigation</a:t>
            </a:r>
            <a:r>
              <a:rPr kumimoji="0" lang="en-US" altLang="en-US" sz="1600" b="0" i="0" u="none" strike="noStrike" cap="none" normalizeH="0" baseline="0" dirty="0">
                <a:ln>
                  <a:noFill/>
                </a:ln>
                <a:solidFill>
                  <a:schemeClr val="tx1"/>
                </a:solidFill>
                <a:effectLst/>
              </a:rPr>
              <a:t>, including movement control, obstacle detection, and decision-making.</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integrate </a:t>
            </a:r>
            <a:r>
              <a:rPr kumimoji="0" lang="en-US" altLang="en-US" sz="1600" b="1" i="0" u="none" strike="noStrike" cap="none" normalizeH="0" baseline="0" dirty="0">
                <a:ln>
                  <a:noFill/>
                </a:ln>
                <a:solidFill>
                  <a:schemeClr val="tx1"/>
                </a:solidFill>
                <a:effectLst/>
              </a:rPr>
              <a:t>low-cost hardware components</a:t>
            </a:r>
            <a:r>
              <a:rPr kumimoji="0" lang="en-US" altLang="en-US" sz="1600" b="0" i="0" u="none" strike="noStrike" cap="none" normalizeH="0" baseline="0" dirty="0">
                <a:ln>
                  <a:noFill/>
                </a:ln>
                <a:solidFill>
                  <a:schemeClr val="tx1"/>
                </a:solidFill>
                <a:effectLst/>
              </a:rPr>
              <a:t> such as ESP/</a:t>
            </a:r>
            <a:r>
              <a:rPr kumimoji="0" lang="en-US" altLang="en-US" sz="1600" b="0" i="0" u="none" strike="noStrike" cap="none" normalizeH="0" baseline="0" dirty="0" err="1">
                <a:ln>
                  <a:noFill/>
                </a:ln>
                <a:solidFill>
                  <a:schemeClr val="tx1"/>
                </a:solidFill>
                <a:effectLst/>
              </a:rPr>
              <a:t>NodeMCU</a:t>
            </a:r>
            <a:r>
              <a:rPr kumimoji="0" lang="en-US" altLang="en-US" sz="1600" b="0" i="0" u="none" strike="noStrike" cap="none" normalizeH="0" baseline="0" dirty="0">
                <a:ln>
                  <a:noFill/>
                </a:ln>
                <a:solidFill>
                  <a:schemeClr val="tx1"/>
                </a:solidFill>
                <a:effectLst/>
              </a:rPr>
              <a:t> and sensors for practical implementation.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To </a:t>
            </a:r>
            <a:r>
              <a:rPr kumimoji="0" lang="en-US" altLang="en-US" sz="1600" b="1" i="0" u="none" strike="noStrike" cap="none" normalizeH="0" baseline="0" dirty="0">
                <a:ln>
                  <a:noFill/>
                </a:ln>
                <a:solidFill>
                  <a:schemeClr val="tx1"/>
                </a:solidFill>
                <a:effectLst/>
              </a:rPr>
              <a:t>analyze RSSI variations and validate system performance</a:t>
            </a:r>
            <a:r>
              <a:rPr kumimoji="0" lang="en-US" altLang="en-US" sz="1600" b="0" i="0" u="none" strike="noStrike" cap="none" normalizeH="0" baseline="0" dirty="0">
                <a:ln>
                  <a:noFill/>
                </a:ln>
                <a:solidFill>
                  <a:schemeClr val="tx1"/>
                </a:solidFill>
                <a:effectLst/>
              </a:rPr>
              <a:t> through simulation and hardware experiments.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7D0A2969-678A-0628-E645-2A40CDFD3788}"/>
              </a:ext>
            </a:extLst>
          </p:cNvPr>
          <p:cNvSpPr txBox="1"/>
          <p:nvPr/>
        </p:nvSpPr>
        <p:spPr>
          <a:xfrm>
            <a:off x="179511" y="1061448"/>
            <a:ext cx="8784978" cy="52247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t>GPS-Free Localization: </a:t>
            </a:r>
            <a:r>
              <a:rPr lang="en-US" sz="1600" dirty="0"/>
              <a:t>Operates in indoor and GPS-denied environments using RSSI signals without satellite dependence.</a:t>
            </a:r>
          </a:p>
          <a:p>
            <a:pPr marL="285750" indent="-285750">
              <a:lnSpc>
                <a:spcPct val="150000"/>
              </a:lnSpc>
              <a:buFont typeface="Arial" panose="020B0604020202020204" pitchFamily="34" charset="0"/>
              <a:buChar char="•"/>
            </a:pPr>
            <a:r>
              <a:rPr lang="en-US" sz="1600" b="1" dirty="0"/>
              <a:t>RSSI-Based Navigation and Distance Estimation: </a:t>
            </a:r>
            <a:r>
              <a:rPr lang="en-US" sz="1600" dirty="0"/>
              <a:t>Uses wireless signal strength to estimate relative proximity and distances between robots.</a:t>
            </a:r>
          </a:p>
          <a:p>
            <a:pPr marL="285750" indent="-285750">
              <a:lnSpc>
                <a:spcPct val="150000"/>
              </a:lnSpc>
              <a:buFont typeface="Arial" panose="020B0604020202020204" pitchFamily="34" charset="0"/>
              <a:buChar char="•"/>
            </a:pPr>
            <a:r>
              <a:rPr lang="en-US" sz="1600" b="1" dirty="0"/>
              <a:t>Gradient Descent Optimization:</a:t>
            </a:r>
            <a:r>
              <a:rPr lang="en-US" sz="1600" dirty="0"/>
              <a:t> Guides robot movement by iteratively maximizing RSSI for convergence toward the target.</a:t>
            </a:r>
          </a:p>
          <a:p>
            <a:pPr marL="285750" indent="-285750">
              <a:lnSpc>
                <a:spcPct val="150000"/>
              </a:lnSpc>
              <a:buFont typeface="Arial" panose="020B0604020202020204" pitchFamily="34" charset="0"/>
              <a:buChar char="•"/>
            </a:pPr>
            <a:r>
              <a:rPr lang="en-US" sz="1600" b="1" dirty="0"/>
              <a:t>Decentralized Control Architecture: </a:t>
            </a:r>
            <a:r>
              <a:rPr lang="en-US" sz="1600" dirty="0"/>
              <a:t>Enables independent decision-making without a central controller, improving scalability and fault tolerance.</a:t>
            </a:r>
          </a:p>
          <a:p>
            <a:pPr marL="285750" indent="-285750">
              <a:lnSpc>
                <a:spcPct val="150000"/>
              </a:lnSpc>
              <a:buFont typeface="Arial" panose="020B0604020202020204" pitchFamily="34" charset="0"/>
              <a:buChar char="•"/>
            </a:pPr>
            <a:r>
              <a:rPr lang="en-US" sz="1600" b="1" dirty="0"/>
              <a:t>Collaborative Multi-Robot System: </a:t>
            </a:r>
            <a:r>
              <a:rPr lang="en-US" sz="1600" dirty="0"/>
              <a:t>Supports inter-robot communication and data sharing for better coordination and accuracy.</a:t>
            </a:r>
          </a:p>
          <a:p>
            <a:pPr marL="285750" indent="-285750">
              <a:lnSpc>
                <a:spcPct val="150000"/>
              </a:lnSpc>
              <a:buFont typeface="Arial" panose="020B0604020202020204" pitchFamily="34" charset="0"/>
              <a:buChar char="•"/>
            </a:pPr>
            <a:r>
              <a:rPr lang="en-US" sz="1600" b="1" dirty="0"/>
              <a:t>Autonomous and Real-Time Operation: </a:t>
            </a:r>
            <a:r>
              <a:rPr lang="en-US" sz="1600" dirty="0"/>
              <a:t>Allows continuous navigation, obstacle detection, and dynamic decision-making without human intervention.</a:t>
            </a:r>
          </a:p>
          <a:p>
            <a:pPr marL="285750" indent="-285750">
              <a:lnSpc>
                <a:spcPct val="150000"/>
              </a:lnSpc>
              <a:buFont typeface="Arial" panose="020B0604020202020204" pitchFamily="34" charset="0"/>
              <a:buChar char="•"/>
            </a:pPr>
            <a:r>
              <a:rPr lang="en-US" sz="1600" b="1" dirty="0"/>
              <a:t> Low-Cost, Scalable, and Flexible Design: </a:t>
            </a:r>
            <a:r>
              <a:rPr lang="en-US" sz="1600" dirty="0"/>
              <a:t>Built using affordable hardware and easily extendable to multiple robots and larger environments.</a:t>
            </a:r>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F2B-4274-D144-7093-B867F4CB379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527858-67DE-3DF8-FF01-8DB1846AEB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2CBC630-DA86-8B5C-8CF1-BBD133225A5E}"/>
              </a:ext>
            </a:extLst>
          </p:cNvPr>
          <p:cNvSpPr>
            <a:spLocks noChangeArrowheads="1"/>
          </p:cNvSpPr>
          <p:nvPr/>
        </p:nvSpPr>
        <p:spPr bwMode="auto">
          <a:xfrm>
            <a:off x="179512" y="244288"/>
            <a:ext cx="5688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Progress Summary</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FB5C432-E63F-6355-19A5-32B65372F4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D3DC83-45E5-89A4-957B-69C5B5063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6412DA-6D17-40E5-6A15-8B5AF801558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8BAD7EA2-6335-73C9-C354-DBC278C2F472}"/>
              </a:ext>
            </a:extLst>
          </p:cNvPr>
          <p:cNvSpPr txBox="1"/>
          <p:nvPr/>
        </p:nvSpPr>
        <p:spPr>
          <a:xfrm>
            <a:off x="179512" y="980728"/>
            <a:ext cx="8784976" cy="5224764"/>
          </a:xfrm>
          <a:prstGeom prst="rect">
            <a:avLst/>
          </a:prstGeom>
          <a:noFill/>
        </p:spPr>
        <p:txBody>
          <a:bodyPr wrap="square">
            <a:spAutoFit/>
          </a:bodyPr>
          <a:lstStyle/>
          <a:p>
            <a:pPr>
              <a:lnSpc>
                <a:spcPct val="150000"/>
              </a:lnSpc>
            </a:pPr>
            <a:r>
              <a:rPr lang="en-US" sz="1600" dirty="0"/>
              <a:t>The project has been successfully completed, achieving all planned objectives from system design to final testing and validation.</a:t>
            </a:r>
          </a:p>
          <a:p>
            <a:pPr>
              <a:lnSpc>
                <a:spcPct val="150000"/>
              </a:lnSpc>
            </a:pPr>
            <a:r>
              <a:rPr lang="en-US" sz="1600" b="1" dirty="0"/>
              <a:t>System Design Completed:</a:t>
            </a:r>
            <a:r>
              <a:rPr lang="en-US" sz="1600" dirty="0"/>
              <a:t> Finalized architecture, algorithm design, and project requirements. </a:t>
            </a:r>
          </a:p>
          <a:p>
            <a:pPr>
              <a:lnSpc>
                <a:spcPct val="150000"/>
              </a:lnSpc>
            </a:pPr>
            <a:r>
              <a:rPr lang="en-US" sz="1600" b="1" dirty="0"/>
              <a:t>Hardware Implementation and Software Development :</a:t>
            </a:r>
            <a:r>
              <a:rPr lang="en-US" sz="1600" dirty="0"/>
              <a:t> Fully assembled and integrated all components including ESP8266/</a:t>
            </a:r>
            <a:r>
              <a:rPr lang="en-US" sz="1600" dirty="0" err="1"/>
              <a:t>NodeMCU</a:t>
            </a:r>
            <a:r>
              <a:rPr lang="en-US" sz="1600" dirty="0"/>
              <a:t>, sensors, motor driver, and power system. Implemented RSSI-based navigation, obstacle detection, and MPU6050-based motion correction. </a:t>
            </a:r>
          </a:p>
          <a:p>
            <a:pPr>
              <a:lnSpc>
                <a:spcPct val="150000"/>
              </a:lnSpc>
            </a:pPr>
            <a:r>
              <a:rPr lang="en-US" sz="1600" b="1" dirty="0"/>
              <a:t>Gradient Descent Optimization:</a:t>
            </a:r>
            <a:r>
              <a:rPr lang="en-US" sz="1600" dirty="0"/>
              <a:t> Successfully applied optimization logic to improve movement accuracy and convergence. </a:t>
            </a:r>
          </a:p>
          <a:p>
            <a:pPr>
              <a:lnSpc>
                <a:spcPct val="150000"/>
              </a:lnSpc>
            </a:pPr>
            <a:r>
              <a:rPr lang="en-US" sz="1600" b="1" dirty="0"/>
              <a:t>System Integration:</a:t>
            </a:r>
            <a:r>
              <a:rPr lang="en-US" sz="1600" dirty="0"/>
              <a:t> Combined all modules into a single fully functional autonomous system. </a:t>
            </a:r>
          </a:p>
          <a:p>
            <a:pPr>
              <a:lnSpc>
                <a:spcPct val="150000"/>
              </a:lnSpc>
            </a:pPr>
            <a:r>
              <a:rPr lang="en-US" sz="1600" b="1" dirty="0"/>
              <a:t>Testing &amp; Validation:</a:t>
            </a:r>
            <a:r>
              <a:rPr lang="en-US" sz="1600" dirty="0"/>
              <a:t> Conducted indoor testing to evaluate accuracy, stability, and navigation performance. </a:t>
            </a:r>
          </a:p>
          <a:p>
            <a:pPr>
              <a:lnSpc>
                <a:spcPct val="150000"/>
              </a:lnSpc>
            </a:pPr>
            <a:r>
              <a:rPr lang="en-US" sz="1600" b="1" dirty="0"/>
              <a:t>Performance Achieved:</a:t>
            </a:r>
            <a:r>
              <a:rPr lang="en-US" sz="1600" dirty="0"/>
              <a:t> Robot demonstrates reliable obstacle avoidance, stable movement, and effective RSSI-based navigation. </a:t>
            </a:r>
          </a:p>
          <a:p>
            <a:pPr>
              <a:lnSpc>
                <a:spcPct val="150000"/>
              </a:lnSpc>
            </a:pPr>
            <a:r>
              <a:rPr lang="en-US" sz="1600" b="1" dirty="0"/>
              <a:t>Documentation Completed:</a:t>
            </a:r>
            <a:r>
              <a:rPr lang="en-US" sz="1600" dirty="0"/>
              <a:t> Prepared final report, PPT, synopsis, and research paper.</a:t>
            </a:r>
          </a:p>
        </p:txBody>
      </p:sp>
    </p:spTree>
    <p:extLst>
      <p:ext uri="{BB962C8B-B14F-4D97-AF65-F5344CB8AC3E}">
        <p14:creationId xmlns:p14="http://schemas.microsoft.com/office/powerpoint/2010/main" val="130562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C45B-C9D0-DBF5-811F-0F08DB7B92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CAFCE0-31E7-9CED-BEF6-9C94A97D7C0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C8D1C93-2569-153C-C90B-6D82C35C195E}"/>
              </a:ext>
            </a:extLst>
          </p:cNvPr>
          <p:cNvSpPr>
            <a:spLocks noChangeArrowheads="1"/>
          </p:cNvSpPr>
          <p:nvPr/>
        </p:nvSpPr>
        <p:spPr bwMode="auto">
          <a:xfrm>
            <a:off x="179512" y="377423"/>
            <a:ext cx="8964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latin typeface="Verdana" panose="020B0604030504040204" pitchFamily="34" charset="0"/>
                <a:cs typeface="Times New Roman" panose="02020603050405020304" pitchFamily="18" charset="0"/>
                <a:sym typeface="Arial"/>
              </a:rPr>
              <a:t>Detailed Progress – Development Phase</a:t>
            </a:r>
            <a:endParaRPr lang="en-IN" sz="28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6161CDA-82E4-E4CE-AB8A-F7E4594878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B65409-50C0-1C48-4C06-AA7695D3A2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208C3744-D30A-1716-E2CC-760D5D4D1146}"/>
              </a:ext>
            </a:extLst>
          </p:cNvPr>
          <p:cNvSpPr txBox="1"/>
          <p:nvPr/>
        </p:nvSpPr>
        <p:spPr>
          <a:xfrm>
            <a:off x="179512" y="1061448"/>
            <a:ext cx="8784976" cy="5224764"/>
          </a:xfrm>
          <a:prstGeom prst="rect">
            <a:avLst/>
          </a:prstGeom>
          <a:noFill/>
        </p:spPr>
        <p:txBody>
          <a:bodyPr wrap="square">
            <a:spAutoFit/>
          </a:bodyPr>
          <a:lstStyle/>
          <a:p>
            <a:pPr>
              <a:lnSpc>
                <a:spcPct val="150000"/>
              </a:lnSpc>
              <a:buNone/>
            </a:pPr>
            <a:r>
              <a:rPr lang="en-US" sz="1600" dirty="0"/>
              <a:t>At the final stage, the project has reached 100% completion, progressing from system design to full implementation and validation. The hardware system was successfully assembled, including the ESP8266/</a:t>
            </a:r>
            <a:r>
              <a:rPr lang="en-US" sz="1600" dirty="0" err="1"/>
              <a:t>NodeMCU</a:t>
            </a:r>
            <a:r>
              <a:rPr lang="en-US" sz="1600" dirty="0"/>
              <a:t>, motor driver, ultrasonic and IR sensors, MPU6050 IMU, and power components. Circuit integration and motor control were tested, enabling stable and controlled robot movement. On the software side, key modules were developed and integrated. </a:t>
            </a:r>
            <a:r>
              <a:rPr lang="en-US" sz="1600" dirty="0" err="1"/>
              <a:t>WiFi</a:t>
            </a:r>
            <a:r>
              <a:rPr lang="en-US" sz="1600" dirty="0"/>
              <a:t> communication was established to obtain RSSI values for navigation. </a:t>
            </a:r>
          </a:p>
          <a:p>
            <a:pPr>
              <a:lnSpc>
                <a:spcPct val="150000"/>
              </a:lnSpc>
              <a:buNone/>
            </a:pPr>
            <a:r>
              <a:rPr lang="en-US" sz="1600" dirty="0"/>
              <a:t>Obstacle detection using ultrasonic and IR sensors was implemented, and MPU6050-based motion correction was added to improve stability and direction control. All modules were then combined into a single system. RSSI-based navigation logic was implemented, allowing the robot to move toward the signal source. Gradient descent-based optimization was applied to improve movement accuracy and convergence. System performance was enhanced through parameter tuning to handle RSSI noise and environmental variations. Testing in indoor environments confirmed reliable obstacle avoidance, stable motion, and effective navigation. At completion, the robot operates autonomously, making real-time decisions using RSSI and sensor data, achieving accurate and stable navigation without GPS.</a:t>
            </a:r>
          </a:p>
        </p:txBody>
      </p:sp>
    </p:spTree>
    <p:extLst>
      <p:ext uri="{BB962C8B-B14F-4D97-AF65-F5344CB8AC3E}">
        <p14:creationId xmlns:p14="http://schemas.microsoft.com/office/powerpoint/2010/main" val="130254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78EA-91EC-1523-C725-4DF1904CAD8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4E2ED5E-20D2-67CD-E204-8120E62099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BD89237-FD31-EB4D-C301-78B2DADC84A4}"/>
              </a:ext>
            </a:extLst>
          </p:cNvPr>
          <p:cNvSpPr>
            <a:spLocks noChangeArrowheads="1"/>
          </p:cNvSpPr>
          <p:nvPr/>
        </p:nvSpPr>
        <p:spPr bwMode="auto">
          <a:xfrm>
            <a:off x="179512" y="403326"/>
            <a:ext cx="5184576" cy="6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C58A32C-B1A0-D791-9107-11E9CE11694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AF23AA-68F7-9463-71AE-E67541D6E8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67BE1371-63D3-E1FD-C7C1-BBA05DAEC887}"/>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A3AC4-F588-5F79-6924-FF05D8D7CECE}"/>
              </a:ext>
            </a:extLst>
          </p:cNvPr>
          <p:cNvSpPr txBox="1"/>
          <p:nvPr/>
        </p:nvSpPr>
        <p:spPr>
          <a:xfrm>
            <a:off x="179512" y="1115448"/>
            <a:ext cx="8784976" cy="4855432"/>
          </a:xfrm>
          <a:prstGeom prst="rect">
            <a:avLst/>
          </a:prstGeom>
          <a:noFill/>
        </p:spPr>
        <p:txBody>
          <a:bodyPr wrap="square" rtlCol="0">
            <a:spAutoFit/>
          </a:bodyPr>
          <a:lstStyle/>
          <a:p>
            <a:pPr>
              <a:lnSpc>
                <a:spcPct val="150000"/>
              </a:lnSpc>
            </a:pPr>
            <a:r>
              <a:rPr lang="en-US" sz="1600" b="1" dirty="0"/>
              <a:t>1. </a:t>
            </a:r>
            <a:r>
              <a:rPr lang="en-IN" sz="1600" b="1" dirty="0"/>
              <a:t>System Overview</a:t>
            </a:r>
            <a:r>
              <a:rPr lang="en-US" sz="1600" b="1" dirty="0"/>
              <a:t>: </a:t>
            </a:r>
            <a:r>
              <a:rPr lang="en-US" sz="1600" dirty="0"/>
              <a:t>A </a:t>
            </a:r>
            <a:r>
              <a:rPr lang="en-US" sz="1600" b="1" dirty="0"/>
              <a:t>decentralized multi-robot system</a:t>
            </a:r>
            <a:r>
              <a:rPr lang="en-US" sz="1600" dirty="0"/>
              <a:t> using </a:t>
            </a:r>
            <a:r>
              <a:rPr lang="en-US" sz="1600" b="1" dirty="0"/>
              <a:t>RSSI values</a:t>
            </a:r>
            <a:r>
              <a:rPr lang="en-US" sz="1600" dirty="0"/>
              <a:t> and </a:t>
            </a:r>
            <a:r>
              <a:rPr lang="en-US" sz="1600" b="1" dirty="0"/>
              <a:t>gradient descent</a:t>
            </a:r>
            <a:r>
              <a:rPr lang="en-US" sz="1600" dirty="0"/>
              <a:t> for GPS-free localization and navigation.</a:t>
            </a:r>
          </a:p>
          <a:p>
            <a:pPr>
              <a:lnSpc>
                <a:spcPct val="150000"/>
              </a:lnSpc>
            </a:pPr>
            <a:r>
              <a:rPr lang="en-US" sz="1600" b="1" dirty="0"/>
              <a:t>2. </a:t>
            </a:r>
            <a:r>
              <a:rPr lang="en-IN" sz="1600" b="1" dirty="0"/>
              <a:t>Data Acquisition</a:t>
            </a:r>
            <a:r>
              <a:rPr lang="en-US" sz="1600" b="1" dirty="0"/>
              <a:t>: </a:t>
            </a:r>
            <a:r>
              <a:rPr lang="en-US" sz="1600" dirty="0"/>
              <a:t>Robots collect </a:t>
            </a:r>
            <a:r>
              <a:rPr lang="en-US" sz="1600" b="1" dirty="0"/>
              <a:t>RSSI</a:t>
            </a:r>
            <a:r>
              <a:rPr lang="en-US" sz="1600" dirty="0"/>
              <a:t>, </a:t>
            </a:r>
            <a:r>
              <a:rPr lang="en-US" sz="1600" b="1" dirty="0"/>
              <a:t>ultrasonic/IR sensor data</a:t>
            </a:r>
            <a:r>
              <a:rPr lang="en-US" sz="1600" dirty="0"/>
              <a:t>, and </a:t>
            </a:r>
            <a:r>
              <a:rPr lang="en-US" sz="1600" b="1" dirty="0"/>
              <a:t>IMU data</a:t>
            </a:r>
            <a:r>
              <a:rPr lang="en-US" sz="1600" dirty="0"/>
              <a:t> for positioning, obstacle detection, and motion stability. </a:t>
            </a:r>
            <a:r>
              <a:rPr lang="en-IN" sz="1600" b="1" dirty="0"/>
              <a:t>Ultrasonic/IR sensors</a:t>
            </a:r>
            <a:r>
              <a:rPr lang="en-IN" sz="1600" dirty="0"/>
              <a:t> handle obstacle avoidance, while the </a:t>
            </a:r>
            <a:r>
              <a:rPr lang="en-IN" sz="1600" b="1" dirty="0"/>
              <a:t>IMU ensures stable and accurate motion</a:t>
            </a:r>
            <a:r>
              <a:rPr lang="en-IN" sz="1600" dirty="0"/>
              <a:t>.</a:t>
            </a:r>
            <a:endParaRPr lang="en-US" sz="1600" dirty="0"/>
          </a:p>
          <a:p>
            <a:pPr>
              <a:lnSpc>
                <a:spcPct val="150000"/>
              </a:lnSpc>
              <a:buNone/>
            </a:pPr>
            <a:r>
              <a:rPr lang="en-US" sz="1600" b="1" dirty="0"/>
              <a:t>3. </a:t>
            </a:r>
            <a:r>
              <a:rPr lang="en-IN" sz="1600" b="1" dirty="0"/>
              <a:t>RSSI-Based Estimation: </a:t>
            </a:r>
            <a:r>
              <a:rPr lang="en-US" sz="1600" dirty="0"/>
              <a:t>RSSI values are converted into </a:t>
            </a:r>
            <a:r>
              <a:rPr lang="en-US" sz="1600" b="1" dirty="0"/>
              <a:t>approximate distances</a:t>
            </a:r>
            <a:r>
              <a:rPr lang="en-US" sz="1600" dirty="0"/>
              <a:t> using a </a:t>
            </a:r>
            <a:r>
              <a:rPr lang="en-US" sz="1600" b="1" dirty="0"/>
              <a:t>path-loss model</a:t>
            </a:r>
            <a:r>
              <a:rPr lang="en-US" sz="1600" dirty="0"/>
              <a:t> for relative localization.</a:t>
            </a:r>
          </a:p>
          <a:p>
            <a:pPr>
              <a:lnSpc>
                <a:spcPct val="150000"/>
              </a:lnSpc>
              <a:buNone/>
            </a:pPr>
            <a:r>
              <a:rPr lang="en-US" sz="1600" b="1" dirty="0"/>
              <a:t>4. </a:t>
            </a:r>
            <a:r>
              <a:rPr lang="en-IN" sz="1600" b="1" dirty="0"/>
              <a:t>Gradient-Based Navigation</a:t>
            </a:r>
            <a:r>
              <a:rPr lang="en-US" sz="1600" b="1" dirty="0"/>
              <a:t>: </a:t>
            </a:r>
            <a:r>
              <a:rPr lang="en-US" sz="1600" dirty="0"/>
              <a:t>Robots perform </a:t>
            </a:r>
            <a:r>
              <a:rPr lang="en-US" sz="1600" b="1" dirty="0"/>
              <a:t>exploratory movements</a:t>
            </a:r>
            <a:r>
              <a:rPr lang="en-US" sz="1600" dirty="0"/>
              <a:t> and apply </a:t>
            </a:r>
            <a:r>
              <a:rPr lang="en-US" sz="1600" b="1" dirty="0"/>
              <a:t>gradient descent</a:t>
            </a:r>
            <a:r>
              <a:rPr lang="en-US" sz="1600" dirty="0"/>
              <a:t> to move toward increasing RSSI and minimize error.</a:t>
            </a:r>
          </a:p>
          <a:p>
            <a:pPr>
              <a:lnSpc>
                <a:spcPct val="150000"/>
              </a:lnSpc>
              <a:buNone/>
            </a:pPr>
            <a:r>
              <a:rPr lang="en-US" sz="1600" b="1" dirty="0"/>
              <a:t>5. </a:t>
            </a:r>
            <a:r>
              <a:rPr lang="en-IN" sz="1600" b="1" dirty="0"/>
              <a:t>Iterative Process</a:t>
            </a:r>
            <a:r>
              <a:rPr lang="en-US" sz="1600" b="1" dirty="0"/>
              <a:t>: </a:t>
            </a:r>
            <a:r>
              <a:rPr lang="en-US" sz="1600" dirty="0"/>
              <a:t>Robots continuously </a:t>
            </a:r>
            <a:r>
              <a:rPr lang="en-US" sz="1600" b="1" dirty="0"/>
              <a:t>sense → update → move</a:t>
            </a:r>
            <a:r>
              <a:rPr lang="en-US" sz="1600" dirty="0"/>
              <a:t>, repeating until convergence to the signal source.</a:t>
            </a:r>
          </a:p>
          <a:p>
            <a:pPr>
              <a:lnSpc>
                <a:spcPct val="150000"/>
              </a:lnSpc>
              <a:buNone/>
            </a:pPr>
            <a:r>
              <a:rPr lang="en-US" sz="1600" b="1" dirty="0"/>
              <a:t>6. </a:t>
            </a:r>
            <a:r>
              <a:rPr lang="en-IN" sz="1600" b="1" dirty="0"/>
              <a:t>Integration &amp; Validation: </a:t>
            </a:r>
            <a:r>
              <a:rPr lang="en-US" sz="1600" dirty="0"/>
              <a:t>System implemented on </a:t>
            </a:r>
            <a:r>
              <a:rPr lang="en-US" sz="1600" b="1" dirty="0"/>
              <a:t>ESP/</a:t>
            </a:r>
            <a:r>
              <a:rPr lang="en-US" sz="1600" b="1" dirty="0" err="1"/>
              <a:t>NodeMCU</a:t>
            </a:r>
            <a:r>
              <a:rPr lang="en-US" sz="1600" b="1" dirty="0"/>
              <a:t> with Arduino firmware</a:t>
            </a:r>
            <a:r>
              <a:rPr lang="en-US" sz="1600" dirty="0"/>
              <a:t> and tested in </a:t>
            </a:r>
            <a:r>
              <a:rPr lang="en-US" sz="1600" b="1" dirty="0"/>
              <a:t>indoor environments</a:t>
            </a:r>
            <a:r>
              <a:rPr lang="en-US" sz="1600" dirty="0"/>
              <a:t> for accuracy and stability.</a:t>
            </a:r>
            <a:endParaRPr lang="en-IN" sz="1600" b="1" dirty="0"/>
          </a:p>
        </p:txBody>
      </p:sp>
    </p:spTree>
    <p:extLst>
      <p:ext uri="{BB962C8B-B14F-4D97-AF65-F5344CB8AC3E}">
        <p14:creationId xmlns:p14="http://schemas.microsoft.com/office/powerpoint/2010/main" val="1307321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BE56-1D41-7167-8FFB-A09C6DDBB4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FB3A7BE-7862-048E-951C-86CFD388A53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F1F4E46-D933-954B-D887-0C743D7A6222}"/>
              </a:ext>
            </a:extLst>
          </p:cNvPr>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F222086-A20A-7049-0744-A17C1E596D3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926CD72-25A6-86DC-34B2-F6A291749F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4D0BEBF-445B-BE7B-3FF6-A71A2B58737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FC27A688-8646-DB1F-FAA1-AE2FA984425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0F9F0DBA-467D-F788-9C32-E3E1758EF4D7}"/>
              </a:ext>
            </a:extLst>
          </p:cNvPr>
          <p:cNvPicPr>
            <a:picLocks noChangeAspect="1"/>
          </p:cNvPicPr>
          <p:nvPr/>
        </p:nvPicPr>
        <p:blipFill>
          <a:blip r:embed="rId5"/>
          <a:stretch>
            <a:fillRect/>
          </a:stretch>
        </p:blipFill>
        <p:spPr>
          <a:xfrm>
            <a:off x="323528" y="1326903"/>
            <a:ext cx="8240275" cy="4734586"/>
          </a:xfrm>
          <a:prstGeom prst="rect">
            <a:avLst/>
          </a:prstGeom>
        </p:spPr>
      </p:pic>
    </p:spTree>
    <p:extLst>
      <p:ext uri="{BB962C8B-B14F-4D97-AF65-F5344CB8AC3E}">
        <p14:creationId xmlns:p14="http://schemas.microsoft.com/office/powerpoint/2010/main" val="292643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5198F-392C-9CB1-4078-7514B706F3F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AC7A197-2B7A-7306-2AD8-88D82A2A53E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8BBDED18-6BA3-FBBE-E5DE-D89CAA2FD956}"/>
              </a:ext>
            </a:extLst>
          </p:cNvPr>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E654F70E-66A9-D69D-79A7-74AE7160E74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DACB41C-CC78-3A8E-010F-84EE3549A9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FD358D8-97CA-7337-752D-DBC5584FEC3E}"/>
              </a:ext>
            </a:extLst>
          </p:cNvPr>
          <p:cNvSpPr txBox="1"/>
          <p:nvPr/>
        </p:nvSpPr>
        <p:spPr>
          <a:xfrm>
            <a:off x="5132061" y="1293833"/>
            <a:ext cx="3832427" cy="1947328"/>
          </a:xfrm>
          <a:prstGeom prst="rect">
            <a:avLst/>
          </a:prstGeom>
          <a:noFill/>
        </p:spPr>
        <p:txBody>
          <a:bodyPr wrap="square">
            <a:spAutoFit/>
          </a:bodyPr>
          <a:lstStyle/>
          <a:p>
            <a:r>
              <a:rPr lang="en-US" sz="1600" kern="100" dirty="0">
                <a:solidFill>
                  <a:srgbClr val="000000"/>
                </a:solidFill>
                <a:effectLst/>
                <a:ea typeface="Times New Roman" panose="02020603050405020304" pitchFamily="18" charset="0"/>
                <a:cs typeface="Times New Roman" panose="02020603050405020304" pitchFamily="18" charset="0"/>
              </a:rPr>
              <a:t> </a:t>
            </a:r>
            <a:r>
              <a:rPr lang="en-US" sz="1600" b="1" cap="all" dirty="0"/>
              <a:t>Level 0 — Context Diagram</a:t>
            </a:r>
          </a:p>
          <a:p>
            <a:r>
              <a:rPr lang="en-US" sz="1600" dirty="0"/>
              <a:t>Shows the entire system as a single process bubble. External entities interact with the system at the highest level of abstraction. The system is the "ESP8266 RSSI Robot Navigation System."</a:t>
            </a:r>
          </a:p>
          <a:p>
            <a:pPr marL="0" marR="0" algn="just" fontAlgn="base">
              <a:lnSpc>
                <a:spcPct val="107000"/>
              </a:lnSpc>
              <a:spcBef>
                <a:spcPts val="0"/>
              </a:spcBef>
              <a:spcAft>
                <a:spcPts val="0"/>
              </a:spcAft>
            </a:pPr>
            <a:endParaRPr lang="en-US" sz="2400" kern="100" dirty="0">
              <a:effectLs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AA517BF5-F88F-1970-10C9-FDFCE05F035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1" name="Picture 10">
            <a:extLst>
              <a:ext uri="{FF2B5EF4-FFF2-40B4-BE49-F238E27FC236}">
                <a16:creationId xmlns:a16="http://schemas.microsoft.com/office/drawing/2014/main" id="{81BD5547-8157-F826-F23E-3BEDE9F7F4F9}"/>
              </a:ext>
            </a:extLst>
          </p:cNvPr>
          <p:cNvPicPr>
            <a:picLocks noChangeAspect="1"/>
          </p:cNvPicPr>
          <p:nvPr/>
        </p:nvPicPr>
        <p:blipFill>
          <a:blip r:embed="rId5"/>
          <a:stretch>
            <a:fillRect/>
          </a:stretch>
        </p:blipFill>
        <p:spPr>
          <a:xfrm>
            <a:off x="177133" y="1160807"/>
            <a:ext cx="4777796" cy="2016219"/>
          </a:xfrm>
          <a:prstGeom prst="rect">
            <a:avLst/>
          </a:prstGeom>
        </p:spPr>
      </p:pic>
      <p:pic>
        <p:nvPicPr>
          <p:cNvPr id="14" name="Picture 13">
            <a:extLst>
              <a:ext uri="{FF2B5EF4-FFF2-40B4-BE49-F238E27FC236}">
                <a16:creationId xmlns:a16="http://schemas.microsoft.com/office/drawing/2014/main" id="{31A85888-2DF3-6781-A63A-F37A96C8BBA9}"/>
              </a:ext>
            </a:extLst>
          </p:cNvPr>
          <p:cNvPicPr>
            <a:picLocks noChangeAspect="1"/>
          </p:cNvPicPr>
          <p:nvPr/>
        </p:nvPicPr>
        <p:blipFill>
          <a:blip r:embed="rId6"/>
          <a:stretch>
            <a:fillRect/>
          </a:stretch>
        </p:blipFill>
        <p:spPr>
          <a:xfrm>
            <a:off x="4283968" y="3177029"/>
            <a:ext cx="4680520" cy="3305636"/>
          </a:xfrm>
          <a:prstGeom prst="rect">
            <a:avLst/>
          </a:prstGeom>
        </p:spPr>
      </p:pic>
      <p:sp>
        <p:nvSpPr>
          <p:cNvPr id="16" name="TextBox 15">
            <a:extLst>
              <a:ext uri="{FF2B5EF4-FFF2-40B4-BE49-F238E27FC236}">
                <a16:creationId xmlns:a16="http://schemas.microsoft.com/office/drawing/2014/main" id="{74086946-237D-DFE4-8AD5-B68862A9AB17}"/>
              </a:ext>
            </a:extLst>
          </p:cNvPr>
          <p:cNvSpPr txBox="1"/>
          <p:nvPr/>
        </p:nvSpPr>
        <p:spPr>
          <a:xfrm>
            <a:off x="323528" y="4437112"/>
            <a:ext cx="3672408" cy="1323439"/>
          </a:xfrm>
          <a:prstGeom prst="rect">
            <a:avLst/>
          </a:prstGeom>
          <a:noFill/>
        </p:spPr>
        <p:txBody>
          <a:bodyPr wrap="square" rtlCol="0">
            <a:spAutoFit/>
          </a:bodyPr>
          <a:lstStyle/>
          <a:p>
            <a:r>
              <a:rPr lang="en-US" sz="1600" b="1" cap="all" dirty="0"/>
              <a:t>Level 1 — System Diagram</a:t>
            </a:r>
          </a:p>
          <a:p>
            <a:r>
              <a:rPr lang="en-US" sz="1600" dirty="0"/>
              <a:t>Expands the single bubble into the 7 main processes from the flowchart. Data stores are introduced. All major inter-process data flows are shown.</a:t>
            </a:r>
          </a:p>
        </p:txBody>
      </p:sp>
    </p:spTree>
    <p:extLst>
      <p:ext uri="{BB962C8B-B14F-4D97-AF65-F5344CB8AC3E}">
        <p14:creationId xmlns:p14="http://schemas.microsoft.com/office/powerpoint/2010/main" val="2848192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DC4F-684D-44F3-8244-0FFB385A4AE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D495B35-541E-E292-23D8-A06F154D674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09935CF-3D00-164E-3F6F-767C666CD362}"/>
              </a:ext>
            </a:extLst>
          </p:cNvPr>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5A4BA049-1DE3-3B7F-5F3A-FBECCD8AFC7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4320CE9-E3E8-F384-44D2-EF2B1F7FA0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8" name="Rectangle 1">
            <a:extLst>
              <a:ext uri="{FF2B5EF4-FFF2-40B4-BE49-F238E27FC236}">
                <a16:creationId xmlns:a16="http://schemas.microsoft.com/office/drawing/2014/main" id="{E1CFCE46-87D4-C067-4C78-5D01E3E2FA1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 name="Picture 9">
            <a:extLst>
              <a:ext uri="{FF2B5EF4-FFF2-40B4-BE49-F238E27FC236}">
                <a16:creationId xmlns:a16="http://schemas.microsoft.com/office/drawing/2014/main" id="{3A31104C-2ECE-00F3-9EA2-8CA463D36616}"/>
              </a:ext>
            </a:extLst>
          </p:cNvPr>
          <p:cNvPicPr>
            <a:picLocks noChangeAspect="1"/>
          </p:cNvPicPr>
          <p:nvPr/>
        </p:nvPicPr>
        <p:blipFill>
          <a:blip r:embed="rId5"/>
          <a:stretch>
            <a:fillRect/>
          </a:stretch>
        </p:blipFill>
        <p:spPr>
          <a:xfrm>
            <a:off x="177133" y="1177642"/>
            <a:ext cx="8610600" cy="1866900"/>
          </a:xfrm>
          <a:prstGeom prst="rect">
            <a:avLst/>
          </a:prstGeom>
        </p:spPr>
      </p:pic>
      <p:pic>
        <p:nvPicPr>
          <p:cNvPr id="15" name="Picture 14">
            <a:extLst>
              <a:ext uri="{FF2B5EF4-FFF2-40B4-BE49-F238E27FC236}">
                <a16:creationId xmlns:a16="http://schemas.microsoft.com/office/drawing/2014/main" id="{E35D2AAA-8DB8-8677-66E9-093631492DE6}"/>
              </a:ext>
            </a:extLst>
          </p:cNvPr>
          <p:cNvPicPr>
            <a:picLocks noChangeAspect="1"/>
          </p:cNvPicPr>
          <p:nvPr/>
        </p:nvPicPr>
        <p:blipFill>
          <a:blip r:embed="rId6"/>
          <a:stretch>
            <a:fillRect/>
          </a:stretch>
        </p:blipFill>
        <p:spPr>
          <a:xfrm>
            <a:off x="185584" y="3044542"/>
            <a:ext cx="8602149" cy="1247775"/>
          </a:xfrm>
          <a:prstGeom prst="rect">
            <a:avLst/>
          </a:prstGeom>
        </p:spPr>
      </p:pic>
      <p:pic>
        <p:nvPicPr>
          <p:cNvPr id="19" name="Picture 18">
            <a:extLst>
              <a:ext uri="{FF2B5EF4-FFF2-40B4-BE49-F238E27FC236}">
                <a16:creationId xmlns:a16="http://schemas.microsoft.com/office/drawing/2014/main" id="{77279363-03AA-F259-2E82-72D937AD210D}"/>
              </a:ext>
            </a:extLst>
          </p:cNvPr>
          <p:cNvPicPr>
            <a:picLocks noChangeAspect="1"/>
          </p:cNvPicPr>
          <p:nvPr/>
        </p:nvPicPr>
        <p:blipFill>
          <a:blip r:embed="rId7"/>
          <a:stretch>
            <a:fillRect/>
          </a:stretch>
        </p:blipFill>
        <p:spPr>
          <a:xfrm>
            <a:off x="185583" y="4442420"/>
            <a:ext cx="8706897" cy="1752600"/>
          </a:xfrm>
          <a:prstGeom prst="rect">
            <a:avLst/>
          </a:prstGeom>
        </p:spPr>
      </p:pic>
    </p:spTree>
    <p:extLst>
      <p:ext uri="{BB962C8B-B14F-4D97-AF65-F5344CB8AC3E}">
        <p14:creationId xmlns:p14="http://schemas.microsoft.com/office/powerpoint/2010/main" val="147594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5A5-9360-301B-35BC-76C4D7E1382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B355AC6-E75C-8E6A-E49C-6703153989E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F33D0F2A-6766-778B-5913-DAE48FF824B3}"/>
              </a:ext>
            </a:extLst>
          </p:cNvPr>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E1900C5-5224-B8E2-E37C-06367046288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3598636-A5D6-633E-0725-E0885B3E3A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8" name="Rectangle 1">
            <a:extLst>
              <a:ext uri="{FF2B5EF4-FFF2-40B4-BE49-F238E27FC236}">
                <a16:creationId xmlns:a16="http://schemas.microsoft.com/office/drawing/2014/main" id="{C65BB434-73E6-C802-4D00-AFCE9526C9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E6BAEC23-956E-2C05-9AA6-E06235578C8A}"/>
              </a:ext>
            </a:extLst>
          </p:cNvPr>
          <p:cNvPicPr>
            <a:picLocks noChangeAspect="1"/>
          </p:cNvPicPr>
          <p:nvPr/>
        </p:nvPicPr>
        <p:blipFill>
          <a:blip r:embed="rId5"/>
          <a:stretch>
            <a:fillRect/>
          </a:stretch>
        </p:blipFill>
        <p:spPr>
          <a:xfrm>
            <a:off x="251521" y="1518649"/>
            <a:ext cx="8712968" cy="1857375"/>
          </a:xfrm>
          <a:prstGeom prst="rect">
            <a:avLst/>
          </a:prstGeom>
        </p:spPr>
      </p:pic>
      <p:sp>
        <p:nvSpPr>
          <p:cNvPr id="11" name="TextBox 10">
            <a:extLst>
              <a:ext uri="{FF2B5EF4-FFF2-40B4-BE49-F238E27FC236}">
                <a16:creationId xmlns:a16="http://schemas.microsoft.com/office/drawing/2014/main" id="{07EE0ACB-345C-3250-9C64-16CD77710FFB}"/>
              </a:ext>
            </a:extLst>
          </p:cNvPr>
          <p:cNvSpPr txBox="1"/>
          <p:nvPr/>
        </p:nvSpPr>
        <p:spPr>
          <a:xfrm>
            <a:off x="251520" y="3717032"/>
            <a:ext cx="8712968" cy="1107996"/>
          </a:xfrm>
          <a:prstGeom prst="rect">
            <a:avLst/>
          </a:prstGeom>
          <a:noFill/>
        </p:spPr>
        <p:txBody>
          <a:bodyPr wrap="square" rtlCol="0">
            <a:spAutoFit/>
          </a:bodyPr>
          <a:lstStyle/>
          <a:p>
            <a:r>
              <a:rPr lang="en-US" sz="1600" b="1" cap="all" dirty="0"/>
              <a:t>Level 2 — Decomposed Processes</a:t>
            </a:r>
          </a:p>
          <a:p>
            <a:r>
              <a:rPr lang="en-US" sz="1600" dirty="0"/>
              <a:t>Explodes P2 (RSSI Measurement &amp; Conditioning), P3 (Gradient Estimation), P4 (Navigation), and P7 (Obstacle Avoidance) into their sub-processes. These are the most complex processes in the system.</a:t>
            </a:r>
          </a:p>
          <a:p>
            <a:endParaRPr lang="en-IN" sz="1600" dirty="0"/>
          </a:p>
        </p:txBody>
      </p:sp>
    </p:spTree>
    <p:extLst>
      <p:ext uri="{BB962C8B-B14F-4D97-AF65-F5344CB8AC3E}">
        <p14:creationId xmlns:p14="http://schemas.microsoft.com/office/powerpoint/2010/main" val="3205667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444015"/>
            <a:ext cx="74209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graphicFrame>
        <p:nvGraphicFramePr>
          <p:cNvPr id="8" name="Table 7">
            <a:extLst>
              <a:ext uri="{FF2B5EF4-FFF2-40B4-BE49-F238E27FC236}">
                <a16:creationId xmlns:a16="http://schemas.microsoft.com/office/drawing/2014/main" id="{B68FFC91-0CB3-41E8-DBB9-166C45AD9F1C}"/>
              </a:ext>
            </a:extLst>
          </p:cNvPr>
          <p:cNvGraphicFramePr>
            <a:graphicFrameLocks noGrp="1"/>
          </p:cNvGraphicFramePr>
          <p:nvPr/>
        </p:nvGraphicFramePr>
        <p:xfrm>
          <a:off x="395536" y="1337896"/>
          <a:ext cx="8424936" cy="4742044"/>
        </p:xfrm>
        <a:graphic>
          <a:graphicData uri="http://schemas.openxmlformats.org/drawingml/2006/table">
            <a:tbl>
              <a:tblPr firstRow="1" firstCol="1">
                <a:tableStyleId>{5C22544A-7EE6-4342-B048-85BDC9FD1C3A}</a:tableStyleId>
              </a:tblPr>
              <a:tblGrid>
                <a:gridCol w="1159395">
                  <a:extLst>
                    <a:ext uri="{9D8B030D-6E8A-4147-A177-3AD203B41FA5}">
                      <a16:colId xmlns:a16="http://schemas.microsoft.com/office/drawing/2014/main" val="4024813227"/>
                    </a:ext>
                  </a:extLst>
                </a:gridCol>
                <a:gridCol w="3053073">
                  <a:extLst>
                    <a:ext uri="{9D8B030D-6E8A-4147-A177-3AD203B41FA5}">
                      <a16:colId xmlns:a16="http://schemas.microsoft.com/office/drawing/2014/main" val="929735975"/>
                    </a:ext>
                  </a:extLst>
                </a:gridCol>
                <a:gridCol w="1198042">
                  <a:extLst>
                    <a:ext uri="{9D8B030D-6E8A-4147-A177-3AD203B41FA5}">
                      <a16:colId xmlns:a16="http://schemas.microsoft.com/office/drawing/2014/main" val="4033119387"/>
                    </a:ext>
                  </a:extLst>
                </a:gridCol>
                <a:gridCol w="3014426">
                  <a:extLst>
                    <a:ext uri="{9D8B030D-6E8A-4147-A177-3AD203B41FA5}">
                      <a16:colId xmlns:a16="http://schemas.microsoft.com/office/drawing/2014/main" val="4006936465"/>
                    </a:ext>
                  </a:extLst>
                </a:gridCol>
              </a:tblGrid>
              <a:tr h="294999">
                <a:tc>
                  <a:txBody>
                    <a:bodyPr/>
                    <a:lstStyle/>
                    <a:p>
                      <a:pPr>
                        <a:buNone/>
                      </a:pPr>
                      <a:r>
                        <a:rPr lang="en-IN" sz="1200" dirty="0"/>
                        <a:t>Phase</a:t>
                      </a:r>
                    </a:p>
                  </a:txBody>
                  <a:tcPr marL="39017" marR="39017" marT="19508" marB="19508" anchor="ctr"/>
                </a:tc>
                <a:tc>
                  <a:txBody>
                    <a:bodyPr/>
                    <a:lstStyle/>
                    <a:p>
                      <a:pPr>
                        <a:buNone/>
                      </a:pPr>
                      <a:r>
                        <a:rPr lang="en-IN" sz="1200"/>
                        <a:t>Phase Name</a:t>
                      </a:r>
                    </a:p>
                  </a:txBody>
                  <a:tcPr marL="39017" marR="39017" marT="19508" marB="19508" anchor="ctr"/>
                </a:tc>
                <a:tc>
                  <a:txBody>
                    <a:bodyPr/>
                    <a:lstStyle/>
                    <a:p>
                      <a:pPr>
                        <a:buNone/>
                      </a:pPr>
                      <a:r>
                        <a:rPr lang="en-IN" sz="1200"/>
                        <a:t>Weeks</a:t>
                      </a:r>
                    </a:p>
                  </a:txBody>
                  <a:tcPr marL="39017" marR="39017" marT="19508" marB="19508" anchor="ctr"/>
                </a:tc>
                <a:tc>
                  <a:txBody>
                    <a:bodyPr/>
                    <a:lstStyle/>
                    <a:p>
                      <a:pPr>
                        <a:buNone/>
                      </a:pPr>
                      <a:r>
                        <a:rPr lang="en-IN" sz="1200"/>
                        <a:t>Key Activities</a:t>
                      </a:r>
                    </a:p>
                  </a:txBody>
                  <a:tcPr marL="39017" marR="39017" marT="19508" marB="19508" anchor="ctr"/>
                </a:tc>
                <a:extLst>
                  <a:ext uri="{0D108BD9-81ED-4DB2-BD59-A6C34878D82A}">
                    <a16:rowId xmlns:a16="http://schemas.microsoft.com/office/drawing/2014/main" val="2357722867"/>
                  </a:ext>
                </a:extLst>
              </a:tr>
              <a:tr h="1017999">
                <a:tc>
                  <a:txBody>
                    <a:bodyPr/>
                    <a:lstStyle/>
                    <a:p>
                      <a:pPr>
                        <a:buNone/>
                      </a:pPr>
                      <a:r>
                        <a:rPr lang="en-IN" sz="1200" dirty="0"/>
                        <a:t>Phase 1</a:t>
                      </a:r>
                    </a:p>
                  </a:txBody>
                  <a:tcPr marL="39017" marR="39017" marT="19508" marB="19508" anchor="ctr"/>
                </a:tc>
                <a:tc>
                  <a:txBody>
                    <a:bodyPr/>
                    <a:lstStyle/>
                    <a:p>
                      <a:pPr>
                        <a:buNone/>
                      </a:pPr>
                      <a:r>
                        <a:rPr lang="en-IN" sz="1200" dirty="0"/>
                        <a:t>Problem Definition &amp; Planning</a:t>
                      </a:r>
                    </a:p>
                  </a:txBody>
                  <a:tcPr marL="39017" marR="39017" marT="19508" marB="19508" anchor="ctr"/>
                </a:tc>
                <a:tc>
                  <a:txBody>
                    <a:bodyPr/>
                    <a:lstStyle/>
                    <a:p>
                      <a:pPr>
                        <a:buNone/>
                      </a:pPr>
                      <a:r>
                        <a:rPr lang="en-IN" sz="1200" dirty="0"/>
                        <a:t>Week 1-2</a:t>
                      </a:r>
                    </a:p>
                  </a:txBody>
                  <a:tcPr marL="39017" marR="39017" marT="19508" marB="19508" anchor="ctr"/>
                </a:tc>
                <a:tc>
                  <a:txBody>
                    <a:bodyPr/>
                    <a:lstStyle/>
                    <a:p>
                      <a:pPr>
                        <a:buNone/>
                      </a:pPr>
                      <a:r>
                        <a:rPr lang="en-US" sz="1200" dirty="0"/>
                        <a:t>System architecture design, component selection, and requirement analysis</a:t>
                      </a:r>
                    </a:p>
                  </a:txBody>
                  <a:tcPr marL="39017" marR="39017" marT="19508" marB="19508" anchor="ctr"/>
                </a:tc>
                <a:extLst>
                  <a:ext uri="{0D108BD9-81ED-4DB2-BD59-A6C34878D82A}">
                    <a16:rowId xmlns:a16="http://schemas.microsoft.com/office/drawing/2014/main" val="540137643"/>
                  </a:ext>
                </a:extLst>
              </a:tr>
              <a:tr h="696525">
                <a:tc>
                  <a:txBody>
                    <a:bodyPr/>
                    <a:lstStyle/>
                    <a:p>
                      <a:pPr>
                        <a:buNone/>
                      </a:pPr>
                      <a:r>
                        <a:rPr lang="en-IN" sz="1200" dirty="0"/>
                        <a:t>Phase 2</a:t>
                      </a:r>
                    </a:p>
                  </a:txBody>
                  <a:tcPr marL="39017" marR="39017" marT="19508" marB="19508" anchor="ctr"/>
                </a:tc>
                <a:tc>
                  <a:txBody>
                    <a:bodyPr/>
                    <a:lstStyle/>
                    <a:p>
                      <a:pPr>
                        <a:buNone/>
                      </a:pPr>
                      <a:r>
                        <a:rPr lang="en-IN" sz="1200" dirty="0"/>
                        <a:t>Hardware</a:t>
                      </a:r>
                    </a:p>
                  </a:txBody>
                  <a:tcPr marL="39017" marR="39017" marT="19508" marB="19508" anchor="ctr"/>
                </a:tc>
                <a:tc>
                  <a:txBody>
                    <a:bodyPr/>
                    <a:lstStyle/>
                    <a:p>
                      <a:pPr>
                        <a:buNone/>
                      </a:pPr>
                      <a:r>
                        <a:rPr lang="en-IN" sz="1200" dirty="0"/>
                        <a:t>Week 3-6</a:t>
                      </a:r>
                    </a:p>
                  </a:txBody>
                  <a:tcPr marL="39017" marR="39017" marT="19508" marB="19508" anchor="ctr"/>
                </a:tc>
                <a:tc>
                  <a:txBody>
                    <a:bodyPr/>
                    <a:lstStyle/>
                    <a:p>
                      <a:pPr>
                        <a:buNone/>
                      </a:pPr>
                      <a:r>
                        <a:rPr lang="en-US" sz="1200" dirty="0"/>
                        <a:t>Component assembly, circuit integration, and motor control implementation</a:t>
                      </a:r>
                    </a:p>
                  </a:txBody>
                  <a:tcPr marL="39017" marR="39017" marT="19508" marB="19508" anchor="ctr"/>
                </a:tc>
                <a:extLst>
                  <a:ext uri="{0D108BD9-81ED-4DB2-BD59-A6C34878D82A}">
                    <a16:rowId xmlns:a16="http://schemas.microsoft.com/office/drawing/2014/main" val="3217961271"/>
                  </a:ext>
                </a:extLst>
              </a:tr>
              <a:tr h="857261">
                <a:tc>
                  <a:txBody>
                    <a:bodyPr/>
                    <a:lstStyle/>
                    <a:p>
                      <a:pPr>
                        <a:buNone/>
                      </a:pPr>
                      <a:r>
                        <a:rPr lang="en-IN" sz="1200"/>
                        <a:t>Phase 3</a:t>
                      </a:r>
                    </a:p>
                  </a:txBody>
                  <a:tcPr marL="39017" marR="39017" marT="19508" marB="19508" anchor="ctr"/>
                </a:tc>
                <a:tc>
                  <a:txBody>
                    <a:bodyPr/>
                    <a:lstStyle/>
                    <a:p>
                      <a:pPr>
                        <a:buNone/>
                      </a:pPr>
                      <a:r>
                        <a:rPr lang="en-IN" sz="1200" dirty="0"/>
                        <a:t>Software Development</a:t>
                      </a:r>
                    </a:p>
                  </a:txBody>
                  <a:tcPr marL="39017" marR="39017" marT="19508" marB="19508" anchor="ctr"/>
                </a:tc>
                <a:tc>
                  <a:txBody>
                    <a:bodyPr/>
                    <a:lstStyle/>
                    <a:p>
                      <a:pPr>
                        <a:buNone/>
                      </a:pPr>
                      <a:r>
                        <a:rPr lang="en-IN" sz="1200" dirty="0"/>
                        <a:t>Week 7-10</a:t>
                      </a:r>
                    </a:p>
                  </a:txBody>
                  <a:tcPr marL="39017" marR="39017" marT="19508" marB="19508" anchor="ctr"/>
                </a:tc>
                <a:tc>
                  <a:txBody>
                    <a:bodyPr/>
                    <a:lstStyle/>
                    <a:p>
                      <a:pPr>
                        <a:buNone/>
                      </a:pPr>
                      <a:r>
                        <a:rPr lang="en-US" sz="1200" dirty="0"/>
                        <a:t>Embedded programming, RSSI measurement algorithms, and sensor integration</a:t>
                      </a:r>
                    </a:p>
                  </a:txBody>
                  <a:tcPr marL="39017" marR="39017" marT="19508" marB="19508" anchor="ctr"/>
                </a:tc>
                <a:extLst>
                  <a:ext uri="{0D108BD9-81ED-4DB2-BD59-A6C34878D82A}">
                    <a16:rowId xmlns:a16="http://schemas.microsoft.com/office/drawing/2014/main" val="1286334646"/>
                  </a:ext>
                </a:extLst>
              </a:tr>
              <a:tr h="1017999">
                <a:tc>
                  <a:txBody>
                    <a:bodyPr/>
                    <a:lstStyle/>
                    <a:p>
                      <a:pPr>
                        <a:buNone/>
                      </a:pPr>
                      <a:r>
                        <a:rPr lang="en-IN" sz="1200"/>
                        <a:t>Phase 4</a:t>
                      </a:r>
                    </a:p>
                  </a:txBody>
                  <a:tcPr marL="39017" marR="39017" marT="19508" marB="19508" anchor="ctr"/>
                </a:tc>
                <a:tc>
                  <a:txBody>
                    <a:bodyPr/>
                    <a:lstStyle/>
                    <a:p>
                      <a:pPr>
                        <a:buNone/>
                      </a:pPr>
                      <a:r>
                        <a:rPr lang="en-IN" sz="1200" dirty="0"/>
                        <a:t>Navigation</a:t>
                      </a:r>
                    </a:p>
                  </a:txBody>
                  <a:tcPr marL="39017" marR="39017" marT="19508" marB="19508" anchor="ctr"/>
                </a:tc>
                <a:tc>
                  <a:txBody>
                    <a:bodyPr/>
                    <a:lstStyle/>
                    <a:p>
                      <a:pPr>
                        <a:buNone/>
                      </a:pPr>
                      <a:r>
                        <a:rPr lang="en-IN" sz="1200" dirty="0"/>
                        <a:t>Weeks 11-14</a:t>
                      </a:r>
                    </a:p>
                  </a:txBody>
                  <a:tcPr marL="39017" marR="39017" marT="19508" marB="19508" anchor="ctr"/>
                </a:tc>
                <a:tc>
                  <a:txBody>
                    <a:bodyPr/>
                    <a:lstStyle/>
                    <a:p>
                      <a:pPr>
                        <a:buNone/>
                      </a:pPr>
                      <a:r>
                        <a:rPr lang="en-US" sz="1200" dirty="0"/>
                        <a:t>Gradient descent implementation, obstacle avoidance, and IMU integration</a:t>
                      </a:r>
                    </a:p>
                  </a:txBody>
                  <a:tcPr marL="39017" marR="39017" marT="19508" marB="19508" anchor="ctr"/>
                </a:tc>
                <a:extLst>
                  <a:ext uri="{0D108BD9-81ED-4DB2-BD59-A6C34878D82A}">
                    <a16:rowId xmlns:a16="http://schemas.microsoft.com/office/drawing/2014/main" val="1934711918"/>
                  </a:ext>
                </a:extLst>
              </a:tr>
              <a:tr h="857261">
                <a:tc>
                  <a:txBody>
                    <a:bodyPr/>
                    <a:lstStyle/>
                    <a:p>
                      <a:pPr>
                        <a:buNone/>
                      </a:pPr>
                      <a:r>
                        <a:rPr lang="en-IN" sz="1200"/>
                        <a:t>Phase 5</a:t>
                      </a:r>
                    </a:p>
                  </a:txBody>
                  <a:tcPr marL="39017" marR="39017" marT="19508" marB="19508" anchor="ctr"/>
                </a:tc>
                <a:tc>
                  <a:txBody>
                    <a:bodyPr/>
                    <a:lstStyle/>
                    <a:p>
                      <a:pPr>
                        <a:buNone/>
                      </a:pPr>
                      <a:r>
                        <a:rPr lang="en-IN" sz="1200" dirty="0"/>
                        <a:t>Testing</a:t>
                      </a:r>
                    </a:p>
                  </a:txBody>
                  <a:tcPr marL="39017" marR="39017" marT="19508" marB="19508" anchor="ctr"/>
                </a:tc>
                <a:tc>
                  <a:txBody>
                    <a:bodyPr/>
                    <a:lstStyle/>
                    <a:p>
                      <a:pPr>
                        <a:buNone/>
                      </a:pPr>
                      <a:r>
                        <a:rPr lang="en-IN" sz="1200" dirty="0"/>
                        <a:t>Week 15-16</a:t>
                      </a:r>
                    </a:p>
                  </a:txBody>
                  <a:tcPr marL="39017" marR="39017" marT="19508" marB="19508" anchor="ctr"/>
                </a:tc>
                <a:tc>
                  <a:txBody>
                    <a:bodyPr/>
                    <a:lstStyle/>
                    <a:p>
                      <a:pPr>
                        <a:buNone/>
                      </a:pPr>
                      <a:r>
                        <a:rPr lang="en-IN" sz="1200" dirty="0"/>
                        <a:t>System optimization, performance validation, and final demonstration</a:t>
                      </a:r>
                    </a:p>
                  </a:txBody>
                  <a:tcPr marL="39017" marR="39017" marT="19508" marB="19508" anchor="ctr"/>
                </a:tc>
                <a:extLst>
                  <a:ext uri="{0D108BD9-81ED-4DB2-BD59-A6C34878D82A}">
                    <a16:rowId xmlns:a16="http://schemas.microsoft.com/office/drawing/2014/main" val="1818692895"/>
                  </a:ext>
                </a:extLst>
              </a:tr>
            </a:tbl>
          </a:graphicData>
        </a:graphic>
      </p:graphicFrame>
    </p:spTree>
    <p:extLst>
      <p:ext uri="{BB962C8B-B14F-4D97-AF65-F5344CB8AC3E}">
        <p14:creationId xmlns:p14="http://schemas.microsoft.com/office/powerpoint/2010/main" val="1128428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AA0A-C5FC-F53E-29D5-13ECFD51B27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3508478-92B0-2ACA-07CA-6172AEAD200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A345157-0D23-1151-B20D-B1DF601D8BE1}"/>
              </a:ext>
            </a:extLst>
          </p:cNvPr>
          <p:cNvSpPr>
            <a:spLocks noChangeArrowheads="1"/>
          </p:cNvSpPr>
          <p:nvPr/>
        </p:nvSpPr>
        <p:spPr bwMode="auto">
          <a:xfrm>
            <a:off x="103414" y="401277"/>
            <a:ext cx="50446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BFD1D24C-A03E-1A9C-9804-D60F02E4728B}"/>
              </a:ext>
            </a:extLst>
          </p:cNvPr>
          <p:cNvCxnSpPr/>
          <p:nvPr/>
        </p:nvCxnSpPr>
        <p:spPr>
          <a:xfrm>
            <a:off x="0"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68C5CAE-2510-ACD7-F468-1D143D583A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9666B29-AE55-D00C-DE87-FCBDC8BE3963}"/>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2">
            <a:extLst>
              <a:ext uri="{FF2B5EF4-FFF2-40B4-BE49-F238E27FC236}">
                <a16:creationId xmlns:a16="http://schemas.microsoft.com/office/drawing/2014/main" id="{CE57E7B5-03C3-E3BF-64AD-2798FD47EE45}"/>
              </a:ext>
            </a:extLst>
          </p:cNvPr>
          <p:cNvSpPr>
            <a:spLocks noChangeArrowheads="1"/>
          </p:cNvSpPr>
          <p:nvPr/>
        </p:nvSpPr>
        <p:spPr bwMode="auto">
          <a:xfrm>
            <a:off x="179512" y="1158448"/>
            <a:ext cx="8784976" cy="531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Data Used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rPr>
              <a:t>RSSI Values:</a:t>
            </a:r>
            <a:r>
              <a:rPr kumimoji="0" lang="en-US" altLang="en-US" sz="1600" b="0" i="0" u="none" strike="noStrike" cap="none" normalizeH="0" baseline="0" dirty="0">
                <a:ln>
                  <a:noFill/>
                </a:ln>
                <a:solidFill>
                  <a:schemeClr val="tx1"/>
                </a:solidFill>
                <a:effectLst/>
              </a:rPr>
              <a:t> Real-time Wi-Fi RSSI measurements for distance estimation and navigation.</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rPr>
              <a:t>Sensor &amp; IMU Data:</a:t>
            </a:r>
            <a:r>
              <a:rPr kumimoji="0" lang="en-US" altLang="en-US" sz="1600" b="0" i="0" u="none" strike="noStrike" cap="none" normalizeH="0" baseline="0" dirty="0">
                <a:ln>
                  <a:noFill/>
                </a:ln>
                <a:solidFill>
                  <a:schemeClr val="tx1"/>
                </a:solidFill>
                <a:effectLst/>
              </a:rPr>
              <a:t> Ultrasonic/IR data for obstacle detection and MPU-6050 data for motion and orientation.</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rPr>
              <a:t>Experimental Data:</a:t>
            </a:r>
            <a:r>
              <a:rPr kumimoji="0" lang="en-US" altLang="en-US" sz="1600" b="0" i="0" u="none" strike="noStrike" cap="none" normalizeH="0" baseline="0" dirty="0">
                <a:ln>
                  <a:noFill/>
                </a:ln>
                <a:solidFill>
                  <a:schemeClr val="tx1"/>
                </a:solidFill>
                <a:effectLst/>
              </a:rPr>
              <a:t> Distance vs RSSI, localization error, and navigation performance logs (movement, speed, direction).</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Resources Utilized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rPr>
              <a:t>Hardware Resources:</a:t>
            </a:r>
            <a:r>
              <a:rPr kumimoji="0" lang="en-US" altLang="en-US" sz="1600" b="0" i="0" u="none" strike="noStrike" cap="none" normalizeH="0" baseline="0" dirty="0">
                <a:ln>
                  <a:noFill/>
                </a:ln>
                <a:solidFill>
                  <a:schemeClr val="tx1"/>
                </a:solidFill>
                <a:effectLst/>
              </a:rPr>
              <a:t> ESP8266/</a:t>
            </a:r>
            <a:r>
              <a:rPr kumimoji="0" lang="en-US" altLang="en-US" sz="1600" b="0" i="0" u="none" strike="noStrike" cap="none" normalizeH="0" baseline="0" dirty="0" err="1">
                <a:ln>
                  <a:noFill/>
                </a:ln>
                <a:solidFill>
                  <a:schemeClr val="tx1"/>
                </a:solidFill>
                <a:effectLst/>
              </a:rPr>
              <a:t>NodeMCU</a:t>
            </a:r>
            <a:r>
              <a:rPr kumimoji="0" lang="en-US" altLang="en-US" sz="1600" b="0" i="0" u="none" strike="noStrike" cap="none" normalizeH="0" baseline="0" dirty="0">
                <a:ln>
                  <a:noFill/>
                </a:ln>
                <a:solidFill>
                  <a:schemeClr val="tx1"/>
                </a:solidFill>
                <a:effectLst/>
              </a:rPr>
              <a:t>, ultrasonic &amp; IR sensors, MPU-6050, motor driver, DC motors, chassis, and power components.</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rPr>
              <a:t>Software Resources:</a:t>
            </a:r>
            <a:r>
              <a:rPr kumimoji="0" lang="en-US" altLang="en-US" sz="1600" b="0" i="0" u="none" strike="noStrike" cap="none" normalizeH="0" baseline="0" dirty="0">
                <a:ln>
                  <a:noFill/>
                </a:ln>
                <a:solidFill>
                  <a:schemeClr val="tx1"/>
                </a:solidFill>
                <a:effectLst/>
              </a:rPr>
              <a:t> Arduino IDE, Embedded C/C++, ESP Wi-Fi libraries, and Wire (I2C) library.</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rPr>
              <a:t>Development &amp; Testing:</a:t>
            </a:r>
            <a:r>
              <a:rPr kumimoji="0" lang="en-US" altLang="en-US" sz="1600" b="0" i="0" u="none" strike="noStrike" cap="none" normalizeH="0" baseline="0" dirty="0">
                <a:ln>
                  <a:noFill/>
                </a:ln>
                <a:solidFill>
                  <a:schemeClr val="tx1"/>
                </a:solidFill>
                <a:effectLst/>
              </a:rPr>
              <a:t> Serial monitor, datasheets/documentation, and indoor lab setup with controlled obstacles.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85497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416523"/>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Use-cases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4B089EB-1FDE-A851-9BC9-8A8A86694399}"/>
              </a:ext>
            </a:extLst>
          </p:cNvPr>
          <p:cNvSpPr txBox="1"/>
          <p:nvPr/>
        </p:nvSpPr>
        <p:spPr>
          <a:xfrm>
            <a:off x="179512" y="1121599"/>
            <a:ext cx="8784976" cy="5570756"/>
          </a:xfrm>
          <a:prstGeom prst="rect">
            <a:avLst/>
          </a:prstGeom>
          <a:noFill/>
        </p:spPr>
        <p:txBody>
          <a:bodyPr wrap="square" rtlCol="0">
            <a:spAutoFit/>
          </a:bodyPr>
          <a:lstStyle/>
          <a:p>
            <a:r>
              <a:rPr lang="en-IN" b="1" dirty="0"/>
              <a:t>Project Use-cases:-</a:t>
            </a:r>
          </a:p>
          <a:p>
            <a:pPr marL="285750" indent="-285750">
              <a:lnSpc>
                <a:spcPct val="150000"/>
              </a:lnSpc>
              <a:buFont typeface="Arial" panose="020B0604020202020204" pitchFamily="34" charset="0"/>
              <a:buChar char="•"/>
            </a:pPr>
            <a:r>
              <a:rPr lang="en-US" sz="1600" b="1" dirty="0"/>
              <a:t>Search and Rescue Operations: Robots</a:t>
            </a:r>
            <a:r>
              <a:rPr lang="en-US" sz="1600" dirty="0"/>
              <a:t> can </a:t>
            </a:r>
            <a:r>
              <a:rPr lang="en-US" sz="1600" b="1" dirty="0"/>
              <a:t>locate and navigate toward signal sources</a:t>
            </a:r>
            <a:r>
              <a:rPr lang="en-US" sz="1600" dirty="0"/>
              <a:t> in </a:t>
            </a:r>
            <a:r>
              <a:rPr lang="en-US" sz="1600" b="1" dirty="0"/>
              <a:t>disaster zones and GPS-denied environments</a:t>
            </a:r>
            <a:r>
              <a:rPr lang="en-US" sz="1600" dirty="0"/>
              <a:t>.</a:t>
            </a:r>
          </a:p>
          <a:p>
            <a:pPr marL="285750" indent="-285750">
              <a:lnSpc>
                <a:spcPct val="150000"/>
              </a:lnSpc>
              <a:buFont typeface="Arial" panose="020B0604020202020204" pitchFamily="34" charset="0"/>
              <a:buChar char="•"/>
            </a:pPr>
            <a:r>
              <a:rPr lang="en-US" sz="1600" b="1" dirty="0"/>
              <a:t>Indoor Navigation Systems: </a:t>
            </a:r>
            <a:r>
              <a:rPr lang="en-US" sz="1600" dirty="0"/>
              <a:t>Supports autonomous movement in </a:t>
            </a:r>
            <a:r>
              <a:rPr lang="en-US" sz="1600" b="1" dirty="0"/>
              <a:t>hospitals, malls, and offices</a:t>
            </a:r>
            <a:r>
              <a:rPr lang="en-US" sz="1600" dirty="0"/>
              <a:t> for delivery and assistance tasks..</a:t>
            </a:r>
          </a:p>
          <a:p>
            <a:pPr marL="285750" indent="-285750">
              <a:lnSpc>
                <a:spcPct val="150000"/>
              </a:lnSpc>
              <a:buFont typeface="Arial" panose="020B0604020202020204" pitchFamily="34" charset="0"/>
              <a:buChar char="•"/>
            </a:pPr>
            <a:r>
              <a:rPr lang="en-US" sz="1600" b="1" dirty="0"/>
              <a:t>Military and Surveillance Applications: </a:t>
            </a:r>
            <a:r>
              <a:rPr lang="en-US" sz="1600" dirty="0"/>
              <a:t>Useful for </a:t>
            </a:r>
            <a:r>
              <a:rPr lang="en-US" sz="1600" b="1" dirty="0"/>
              <a:t>reconnaissance and monitoring</a:t>
            </a:r>
            <a:r>
              <a:rPr lang="en-US" sz="1600" dirty="0"/>
              <a:t> in </a:t>
            </a:r>
            <a:r>
              <a:rPr lang="en-US" sz="1600" b="1" dirty="0"/>
              <a:t>restricted or GPS-denied environments</a:t>
            </a:r>
            <a:r>
              <a:rPr lang="en-US" sz="1600" dirty="0"/>
              <a:t>.</a:t>
            </a:r>
          </a:p>
          <a:p>
            <a:endParaRPr lang="en-US" sz="1600" dirty="0"/>
          </a:p>
          <a:p>
            <a:r>
              <a:rPr lang="en-US" b="1" dirty="0"/>
              <a:t>Project Scope:-</a:t>
            </a:r>
          </a:p>
          <a:p>
            <a:pPr marL="285750" indent="-285750">
              <a:lnSpc>
                <a:spcPct val="150000"/>
              </a:lnSpc>
              <a:buFont typeface="Arial" panose="020B0604020202020204" pitchFamily="34" charset="0"/>
              <a:buChar char="•"/>
            </a:pPr>
            <a:r>
              <a:rPr lang="en-US" sz="1600" dirty="0"/>
              <a:t>Focuses on </a:t>
            </a:r>
            <a:r>
              <a:rPr lang="en-US" sz="1600" b="1" dirty="0"/>
              <a:t>RSSI-based localization and navigation</a:t>
            </a:r>
            <a:r>
              <a:rPr lang="en-US" sz="1600" dirty="0"/>
              <a:t> in </a:t>
            </a:r>
            <a:r>
              <a:rPr lang="en-US" sz="1600" b="1" dirty="0"/>
              <a:t>indoor, GPS-denied environments</a:t>
            </a:r>
            <a:r>
              <a:rPr lang="en-US" sz="1600" dirty="0"/>
              <a:t>.</a:t>
            </a:r>
          </a:p>
          <a:p>
            <a:pPr marL="285750" indent="-285750">
              <a:lnSpc>
                <a:spcPct val="150000"/>
              </a:lnSpc>
              <a:buFont typeface="Arial" panose="020B0604020202020204" pitchFamily="34" charset="0"/>
              <a:buChar char="•"/>
            </a:pPr>
            <a:r>
              <a:rPr lang="en-IN" sz="1600" dirty="0"/>
              <a:t>Implements </a:t>
            </a:r>
            <a:r>
              <a:rPr lang="en-IN" sz="1600" b="1" dirty="0"/>
              <a:t>gradient descent optimization</a:t>
            </a:r>
            <a:r>
              <a:rPr lang="en-IN" sz="1600" dirty="0"/>
              <a:t> for </a:t>
            </a:r>
            <a:r>
              <a:rPr lang="en-IN" sz="1600" b="1" dirty="0"/>
              <a:t>directional movement and convergence</a:t>
            </a:r>
            <a:r>
              <a:rPr lang="en-IN" sz="1600" dirty="0"/>
              <a:t> toward a signal source.</a:t>
            </a:r>
          </a:p>
          <a:p>
            <a:pPr marL="285750" indent="-285750">
              <a:lnSpc>
                <a:spcPct val="150000"/>
              </a:lnSpc>
              <a:buFont typeface="Arial" panose="020B0604020202020204" pitchFamily="34" charset="0"/>
              <a:buChar char="•"/>
            </a:pPr>
            <a:r>
              <a:rPr lang="en-US" sz="1600" dirty="0"/>
              <a:t>Designed for </a:t>
            </a:r>
            <a:r>
              <a:rPr lang="en-US" sz="1600" b="1" dirty="0"/>
              <a:t>small-scale multi-robot systems</a:t>
            </a:r>
            <a:r>
              <a:rPr lang="en-US" sz="1600" dirty="0"/>
              <a:t> with potential for </a:t>
            </a:r>
            <a:r>
              <a:rPr lang="en-US" sz="1600" b="1" dirty="0"/>
              <a:t>scalability</a:t>
            </a:r>
            <a:r>
              <a:rPr lang="en-US" sz="1600" dirty="0"/>
              <a:t>.</a:t>
            </a:r>
          </a:p>
          <a:p>
            <a:pPr marL="285750" indent="-285750">
              <a:lnSpc>
                <a:spcPct val="150000"/>
              </a:lnSpc>
              <a:buFont typeface="Arial" panose="020B0604020202020204" pitchFamily="34" charset="0"/>
              <a:buChar char="•"/>
            </a:pPr>
            <a:r>
              <a:rPr lang="en-US" sz="1600" dirty="0"/>
              <a:t>Utilizes </a:t>
            </a:r>
            <a:r>
              <a:rPr lang="en-US" sz="1600" b="1" dirty="0"/>
              <a:t>low-cost hardware (ESP32/</a:t>
            </a:r>
            <a:r>
              <a:rPr lang="en-US" sz="1600" b="1" dirty="0" err="1"/>
              <a:t>NodeMCU</a:t>
            </a:r>
            <a:r>
              <a:rPr lang="en-US" sz="1600" b="1" dirty="0"/>
              <a:t>)</a:t>
            </a:r>
            <a:r>
              <a:rPr lang="en-US" sz="1600" dirty="0"/>
              <a:t> and </a:t>
            </a:r>
            <a:r>
              <a:rPr lang="en-US" sz="1600" b="1" dirty="0"/>
              <a:t>minimal sensing infrastructure</a:t>
            </a:r>
            <a:r>
              <a:rPr lang="en-US" sz="1600" dirty="0"/>
              <a:t>.</a:t>
            </a:r>
          </a:p>
          <a:p>
            <a:pPr marL="285750" indent="-285750">
              <a:lnSpc>
                <a:spcPct val="150000"/>
              </a:lnSpc>
              <a:buFont typeface="Arial" panose="020B0604020202020204" pitchFamily="34" charset="0"/>
              <a:buChar char="•"/>
            </a:pPr>
            <a:r>
              <a:rPr lang="en-US" sz="1600" dirty="0"/>
              <a:t>Supports </a:t>
            </a:r>
            <a:r>
              <a:rPr lang="en-US" sz="1600" b="1" dirty="0"/>
              <a:t>basic autonomous navigation</a:t>
            </a:r>
            <a:r>
              <a:rPr lang="en-US" sz="1600" dirty="0"/>
              <a:t>, including </a:t>
            </a:r>
            <a:r>
              <a:rPr lang="en-US" sz="1600" b="1" dirty="0"/>
              <a:t>movement control and obstacle avoidance</a:t>
            </a:r>
            <a:r>
              <a:rPr lang="en-US" sz="1600" dirty="0"/>
              <a:t>. </a:t>
            </a:r>
          </a:p>
          <a:p>
            <a:endParaRPr lang="en-US" sz="1600" dirty="0"/>
          </a:p>
        </p:txBody>
      </p:sp>
    </p:spTree>
    <p:extLst>
      <p:ext uri="{BB962C8B-B14F-4D97-AF65-F5344CB8AC3E}">
        <p14:creationId xmlns:p14="http://schemas.microsoft.com/office/powerpoint/2010/main" val="2097983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5D72B3E-CB96-D17D-5D97-F96D7CFA82FE}"/>
              </a:ext>
            </a:extLst>
          </p:cNvPr>
          <p:cNvSpPr txBox="1"/>
          <p:nvPr/>
        </p:nvSpPr>
        <p:spPr>
          <a:xfrm>
            <a:off x="179512" y="1293834"/>
            <a:ext cx="8708878" cy="4916987"/>
          </a:xfrm>
          <a:prstGeom prst="rect">
            <a:avLst/>
          </a:prstGeom>
          <a:noFill/>
        </p:spPr>
        <p:txBody>
          <a:bodyPr wrap="square">
            <a:spAutoFit/>
          </a:bodyPr>
          <a:lstStyle/>
          <a:p>
            <a:r>
              <a:rPr lang="en-US" b="1" dirty="0"/>
              <a:t>Expected Results</a:t>
            </a:r>
          </a:p>
          <a:p>
            <a:pPr marL="285750" indent="-285750">
              <a:lnSpc>
                <a:spcPct val="150000"/>
              </a:lnSpc>
              <a:buFont typeface="Arial" panose="020B0604020202020204" pitchFamily="34" charset="0"/>
              <a:buChar char="•"/>
            </a:pPr>
            <a:r>
              <a:rPr lang="en-US" sz="1600" dirty="0"/>
              <a:t>Accurate </a:t>
            </a:r>
            <a:r>
              <a:rPr lang="en-US" sz="1600" b="1" dirty="0"/>
              <a:t>RSSI-based localization</a:t>
            </a:r>
            <a:r>
              <a:rPr lang="en-US" sz="1600" dirty="0"/>
              <a:t> with consistent </a:t>
            </a:r>
            <a:r>
              <a:rPr lang="en-US" sz="1600" b="1" dirty="0"/>
              <a:t>RSSI improvement during convergence</a:t>
            </a:r>
            <a:r>
              <a:rPr lang="en-US" sz="1600" dirty="0"/>
              <a:t>.</a:t>
            </a:r>
          </a:p>
          <a:p>
            <a:pPr marL="285750" indent="-285750">
              <a:lnSpc>
                <a:spcPct val="150000"/>
              </a:lnSpc>
              <a:buFont typeface="Arial" panose="020B0604020202020204" pitchFamily="34" charset="0"/>
              <a:buChar char="•"/>
            </a:pPr>
            <a:r>
              <a:rPr lang="en-US" sz="1600" dirty="0"/>
              <a:t>Successful implementation of </a:t>
            </a:r>
            <a:r>
              <a:rPr lang="en-US" sz="1600" b="1" dirty="0"/>
              <a:t>gradient descent optimization</a:t>
            </a:r>
            <a:r>
              <a:rPr lang="en-US" sz="1600" dirty="0"/>
              <a:t> for </a:t>
            </a:r>
            <a:r>
              <a:rPr lang="en-US" sz="1600" b="1" dirty="0"/>
              <a:t>position correction and navigation</a:t>
            </a:r>
            <a:r>
              <a:rPr lang="en-US" sz="1600" dirty="0"/>
              <a:t>.</a:t>
            </a:r>
          </a:p>
          <a:p>
            <a:pPr marL="285750" indent="-285750">
              <a:lnSpc>
                <a:spcPct val="150000"/>
              </a:lnSpc>
              <a:buFont typeface="Arial" panose="020B0604020202020204" pitchFamily="34" charset="0"/>
              <a:buChar char="•"/>
            </a:pPr>
            <a:r>
              <a:rPr lang="en-US" sz="1600" dirty="0"/>
              <a:t>Stable </a:t>
            </a:r>
            <a:r>
              <a:rPr lang="en-US" sz="1600" b="1" dirty="0"/>
              <a:t>autonomous navigation</a:t>
            </a:r>
            <a:r>
              <a:rPr lang="en-US" sz="1600" dirty="0"/>
              <a:t> with </a:t>
            </a:r>
            <a:r>
              <a:rPr lang="en-US" sz="1600" b="1" dirty="0"/>
              <a:t>real-time obstacle detection and avoidance</a:t>
            </a:r>
            <a:r>
              <a:rPr lang="en-US" sz="1600" dirty="0"/>
              <a:t>.</a:t>
            </a:r>
          </a:p>
          <a:p>
            <a:pPr marL="285750" indent="-285750">
              <a:lnSpc>
                <a:spcPct val="150000"/>
              </a:lnSpc>
              <a:buFont typeface="Arial" panose="020B0604020202020204" pitchFamily="34" charset="0"/>
              <a:buChar char="•"/>
            </a:pPr>
            <a:r>
              <a:rPr lang="en-US" sz="1600" dirty="0"/>
              <a:t>Reliable operation in </a:t>
            </a:r>
            <a:r>
              <a:rPr lang="en-US" sz="1600" b="1" dirty="0"/>
              <a:t>GPS-denied indoor environments</a:t>
            </a:r>
            <a:r>
              <a:rPr lang="en-US" sz="1600" dirty="0"/>
              <a:t> using a </a:t>
            </a:r>
            <a:r>
              <a:rPr lang="en-US" sz="1600" b="1" dirty="0"/>
              <a:t>low-cost hardware prototype</a:t>
            </a:r>
            <a:r>
              <a:rPr lang="en-US" sz="1600" dirty="0"/>
              <a:t>.</a:t>
            </a:r>
          </a:p>
          <a:p>
            <a:pPr marL="285750" indent="-285750">
              <a:lnSpc>
                <a:spcPct val="150000"/>
              </a:lnSpc>
              <a:buFont typeface="Arial" panose="020B0604020202020204" pitchFamily="34" charset="0"/>
              <a:buChar char="•"/>
            </a:pPr>
            <a:r>
              <a:rPr lang="en-US" sz="1600" dirty="0"/>
              <a:t>Improved </a:t>
            </a:r>
            <a:r>
              <a:rPr lang="en-US" sz="1600" b="1" dirty="0"/>
              <a:t>localization accuracy and stability</a:t>
            </a:r>
            <a:r>
              <a:rPr lang="en-US" sz="1600" dirty="0"/>
              <a:t> compared to basic RSSI methods.</a:t>
            </a:r>
          </a:p>
          <a:p>
            <a:endParaRPr lang="en-US" sz="1600" b="1" dirty="0"/>
          </a:p>
          <a:p>
            <a:r>
              <a:rPr lang="en-US" b="1" dirty="0"/>
              <a:t>Impact of Project</a:t>
            </a:r>
          </a:p>
          <a:p>
            <a:pPr marL="285750" indent="-285750">
              <a:lnSpc>
                <a:spcPct val="150000"/>
              </a:lnSpc>
              <a:buFont typeface="Arial" panose="020B0604020202020204" pitchFamily="34" charset="0"/>
              <a:buChar char="•"/>
            </a:pPr>
            <a:r>
              <a:rPr lang="en-US" sz="1600" dirty="0"/>
              <a:t>Enables </a:t>
            </a:r>
            <a:r>
              <a:rPr lang="en-US" sz="1600" b="1" dirty="0"/>
              <a:t>GPS-free and infrastructure-less navigation</a:t>
            </a:r>
            <a:r>
              <a:rPr lang="en-US" sz="1600" dirty="0"/>
              <a:t> in restricted environments.</a:t>
            </a:r>
          </a:p>
          <a:p>
            <a:pPr marL="285750" indent="-285750">
              <a:lnSpc>
                <a:spcPct val="150000"/>
              </a:lnSpc>
              <a:buFont typeface="Arial" panose="020B0604020202020204" pitchFamily="34" charset="0"/>
              <a:buChar char="•"/>
            </a:pPr>
            <a:r>
              <a:rPr lang="en-US" sz="1600" dirty="0"/>
              <a:t>Provides a </a:t>
            </a:r>
            <a:r>
              <a:rPr lang="en-US" sz="1600" b="1" dirty="0"/>
              <a:t>cost-effective alternative</a:t>
            </a:r>
            <a:r>
              <a:rPr lang="en-US" sz="1600" dirty="0"/>
              <a:t> to GPS and vision-based systems.</a:t>
            </a:r>
            <a:endParaRPr lang="en-IN" sz="1600" dirty="0"/>
          </a:p>
          <a:p>
            <a:pPr marL="285750" indent="-285750">
              <a:lnSpc>
                <a:spcPct val="150000"/>
              </a:lnSpc>
              <a:buFont typeface="Arial" panose="020B0604020202020204" pitchFamily="34" charset="0"/>
              <a:buChar char="•"/>
            </a:pPr>
            <a:r>
              <a:rPr lang="en-US" sz="1600" dirty="0"/>
              <a:t>Supports development of </a:t>
            </a:r>
            <a:r>
              <a:rPr lang="en-US" sz="1600" b="1" dirty="0"/>
              <a:t>decentralized and collaborative multi-robot systems</a:t>
            </a:r>
            <a:r>
              <a:rPr lang="en-US" sz="1600" dirty="0"/>
              <a:t>.</a:t>
            </a:r>
          </a:p>
          <a:p>
            <a:pPr marL="285750" indent="-285750">
              <a:lnSpc>
                <a:spcPct val="150000"/>
              </a:lnSpc>
              <a:buFont typeface="Arial" panose="020B0604020202020204" pitchFamily="34" charset="0"/>
              <a:buChar char="•"/>
            </a:pPr>
            <a:r>
              <a:rPr lang="en-US" sz="1600" dirty="0"/>
              <a:t>Scalable for </a:t>
            </a:r>
            <a:r>
              <a:rPr lang="en-US" sz="1600" b="1" dirty="0"/>
              <a:t>swarm robotics and real-world applications</a:t>
            </a:r>
            <a:r>
              <a:rPr lang="en-US" sz="1600" dirty="0"/>
              <a:t> like warehouses and rescue.</a:t>
            </a:r>
          </a:p>
          <a:p>
            <a:pPr marL="285750" indent="-285750">
              <a:lnSpc>
                <a:spcPct val="150000"/>
              </a:lnSpc>
              <a:buFont typeface="Arial" panose="020B0604020202020204" pitchFamily="34" charset="0"/>
              <a:buChar char="•"/>
            </a:pPr>
            <a:r>
              <a:rPr lang="en-US" sz="1600" dirty="0"/>
              <a:t>Contributes to advancements in </a:t>
            </a:r>
            <a:r>
              <a:rPr lang="en-US" sz="1600" b="1" dirty="0"/>
              <a:t>IoT-based robotics and intelligent systems</a:t>
            </a:r>
            <a:r>
              <a:rPr lang="en-US" sz="1600" dirty="0"/>
              <a:t>.</a:t>
            </a:r>
            <a:endParaRPr lang="en-IN" sz="1600" dirty="0"/>
          </a:p>
        </p:txBody>
      </p:sp>
    </p:spTree>
    <p:extLst>
      <p:ext uri="{BB962C8B-B14F-4D97-AF65-F5344CB8AC3E}">
        <p14:creationId xmlns:p14="http://schemas.microsoft.com/office/powerpoint/2010/main" val="25626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6510</TotalTime>
  <Words>1812</Words>
  <Application>Microsoft Office PowerPoint</Application>
  <PresentationFormat>On-screen Show (4:3)</PresentationFormat>
  <Paragraphs>168</Paragraphs>
  <Slides>17</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Cambria</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Vishakha Gaur</dc:creator>
  <cp:lastModifiedBy>Vishakha Gaur</cp:lastModifiedBy>
  <cp:revision>320</cp:revision>
  <cp:lastPrinted>2022-09-05T08:43:44Z</cp:lastPrinted>
  <dcterms:created xsi:type="dcterms:W3CDTF">2020-01-16T09:05:56Z</dcterms:created>
  <dcterms:modified xsi:type="dcterms:W3CDTF">2026-04-11T18:22:57Z</dcterms:modified>
</cp:coreProperties>
</file>