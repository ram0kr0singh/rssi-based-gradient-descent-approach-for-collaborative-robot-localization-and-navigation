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497" r:id="rId3"/>
    <p:sldId id="499" r:id="rId4"/>
    <p:sldId id="500" r:id="rId5"/>
    <p:sldId id="501" r:id="rId6"/>
    <p:sldId id="502" r:id="rId7"/>
    <p:sldId id="503" r:id="rId8"/>
    <p:sldId id="504" r:id="rId9"/>
    <p:sldId id="505" r:id="rId10"/>
    <p:sldId id="506" r:id="rId11"/>
    <p:sldId id="507" r:id="rId12"/>
    <p:sldId id="269" r:id="rId13"/>
  </p:sldIdLst>
  <p:sldSz cx="9144000" cy="6858000" type="screen4x3"/>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0AA"/>
    <a:srgbClr val="0066B3"/>
    <a:srgbClr val="E31E24"/>
    <a:srgbClr val="006CB4"/>
    <a:srgbClr val="E830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437" autoAdjust="0"/>
    <p:restoredTop sz="94660"/>
  </p:normalViewPr>
  <p:slideViewPr>
    <p:cSldViewPr>
      <p:cViewPr varScale="1">
        <p:scale>
          <a:sx n="81" d="100"/>
          <a:sy n="81" d="100"/>
        </p:scale>
        <p:origin x="1003" y="4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42668431-CD35-4516-818D-B41B2C4843CF}" type="datetimeFigureOut">
              <a:rPr lang="en-IN" smtClean="0"/>
              <a:t>09-02-2026</a:t>
            </a:fld>
            <a:endParaRPr lang="en-IN"/>
          </a:p>
        </p:txBody>
      </p:sp>
      <p:sp>
        <p:nvSpPr>
          <p:cNvPr id="4" name="Slide Image Placeholder 3"/>
          <p:cNvSpPr>
            <a:spLocks noGrp="1" noRot="1" noChangeAspect="1"/>
          </p:cNvSpPr>
          <p:nvPr>
            <p:ph type="sldImg" idx="2"/>
          </p:nvPr>
        </p:nvSpPr>
        <p:spPr>
          <a:xfrm>
            <a:off x="1144588" y="1243013"/>
            <a:ext cx="4471987" cy="33559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DAB949B3-C4AB-4FB2-8B24-B07A558BD59F}" type="slidenum">
              <a:rPr lang="en-IN" smtClean="0"/>
              <a:t>‹#›</a:t>
            </a:fld>
            <a:endParaRPr lang="en-IN"/>
          </a:p>
        </p:txBody>
      </p:sp>
    </p:spTree>
    <p:extLst>
      <p:ext uri="{BB962C8B-B14F-4D97-AF65-F5344CB8AC3E}">
        <p14:creationId xmlns:p14="http://schemas.microsoft.com/office/powerpoint/2010/main" val="2676534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2</a:t>
            </a:fld>
            <a:endParaRPr lang="en-IN"/>
          </a:p>
        </p:txBody>
      </p:sp>
    </p:spTree>
    <p:extLst>
      <p:ext uri="{BB962C8B-B14F-4D97-AF65-F5344CB8AC3E}">
        <p14:creationId xmlns:p14="http://schemas.microsoft.com/office/powerpoint/2010/main" val="36356005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3</a:t>
            </a:fld>
            <a:endParaRPr lang="en-IN"/>
          </a:p>
        </p:txBody>
      </p:sp>
    </p:spTree>
    <p:extLst>
      <p:ext uri="{BB962C8B-B14F-4D97-AF65-F5344CB8AC3E}">
        <p14:creationId xmlns:p14="http://schemas.microsoft.com/office/powerpoint/2010/main" val="3546696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4</a:t>
            </a:fld>
            <a:endParaRPr lang="en-IN"/>
          </a:p>
        </p:txBody>
      </p:sp>
    </p:spTree>
    <p:extLst>
      <p:ext uri="{BB962C8B-B14F-4D97-AF65-F5344CB8AC3E}">
        <p14:creationId xmlns:p14="http://schemas.microsoft.com/office/powerpoint/2010/main" val="41504681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5</a:t>
            </a:fld>
            <a:endParaRPr lang="en-IN"/>
          </a:p>
        </p:txBody>
      </p:sp>
    </p:spTree>
    <p:extLst>
      <p:ext uri="{BB962C8B-B14F-4D97-AF65-F5344CB8AC3E}">
        <p14:creationId xmlns:p14="http://schemas.microsoft.com/office/powerpoint/2010/main" val="31608931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6</a:t>
            </a:fld>
            <a:endParaRPr lang="en-IN"/>
          </a:p>
        </p:txBody>
      </p:sp>
    </p:spTree>
    <p:extLst>
      <p:ext uri="{BB962C8B-B14F-4D97-AF65-F5344CB8AC3E}">
        <p14:creationId xmlns:p14="http://schemas.microsoft.com/office/powerpoint/2010/main" val="16237544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7</a:t>
            </a:fld>
            <a:endParaRPr lang="en-IN"/>
          </a:p>
        </p:txBody>
      </p:sp>
    </p:spTree>
    <p:extLst>
      <p:ext uri="{BB962C8B-B14F-4D97-AF65-F5344CB8AC3E}">
        <p14:creationId xmlns:p14="http://schemas.microsoft.com/office/powerpoint/2010/main" val="14696401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8</a:t>
            </a:fld>
            <a:endParaRPr lang="en-IN"/>
          </a:p>
        </p:txBody>
      </p:sp>
    </p:spTree>
    <p:extLst>
      <p:ext uri="{BB962C8B-B14F-4D97-AF65-F5344CB8AC3E}">
        <p14:creationId xmlns:p14="http://schemas.microsoft.com/office/powerpoint/2010/main" val="36360504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9</a:t>
            </a:fld>
            <a:endParaRPr lang="en-IN"/>
          </a:p>
        </p:txBody>
      </p:sp>
    </p:spTree>
    <p:extLst>
      <p:ext uri="{BB962C8B-B14F-4D97-AF65-F5344CB8AC3E}">
        <p14:creationId xmlns:p14="http://schemas.microsoft.com/office/powerpoint/2010/main" val="42715464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10</a:t>
            </a:fld>
            <a:endParaRPr lang="en-IN"/>
          </a:p>
        </p:txBody>
      </p:sp>
    </p:spTree>
    <p:extLst>
      <p:ext uri="{BB962C8B-B14F-4D97-AF65-F5344CB8AC3E}">
        <p14:creationId xmlns:p14="http://schemas.microsoft.com/office/powerpoint/2010/main" val="4183691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A6B61-674B-0ABF-F5C3-A72BF2845D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2FBED0-DE41-A040-921A-D95B51852C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B3F754-664A-ECDE-8199-65800D97632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BCAF3E54-5ADF-52CC-11B5-B7F7837DEE42}"/>
              </a:ext>
            </a:extLst>
          </p:cNvPr>
          <p:cNvSpPr>
            <a:spLocks noGrp="1"/>
          </p:cNvSpPr>
          <p:nvPr>
            <p:ph type="sldNum" sz="quarter" idx="5"/>
          </p:nvPr>
        </p:nvSpPr>
        <p:spPr/>
        <p:txBody>
          <a:bodyPr/>
          <a:lstStyle/>
          <a:p>
            <a:fld id="{DAB949B3-C4AB-4FB2-8B24-B07A558BD59F}" type="slidenum">
              <a:rPr lang="en-IN" smtClean="0"/>
              <a:t>11</a:t>
            </a:fld>
            <a:endParaRPr lang="en-IN"/>
          </a:p>
        </p:txBody>
      </p:sp>
    </p:spTree>
    <p:extLst>
      <p:ext uri="{BB962C8B-B14F-4D97-AF65-F5344CB8AC3E}">
        <p14:creationId xmlns:p14="http://schemas.microsoft.com/office/powerpoint/2010/main" val="3277129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09-02-2026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71617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09-02-2026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671195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AA89A1-F17A-4D3D-AC08-D16056C16514}" type="datetimeFigureOut">
              <a:rPr lang="en-IN" smtClean="0"/>
              <a:t>09-02-2026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4050717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F4AA89A1-F17A-4D3D-AC08-D16056C16514}" type="datetimeFigureOut">
              <a:rPr lang="en-IN" smtClean="0"/>
              <a:t>09-02-2026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4091185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4AA89A1-F17A-4D3D-AC08-D16056C16514}" type="datetimeFigureOut">
              <a:rPr lang="en-IN" smtClean="0"/>
              <a:t>09-02-2026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2461301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4AA89A1-F17A-4D3D-AC08-D16056C16514}" type="datetimeFigureOut">
              <a:rPr lang="en-IN" smtClean="0"/>
              <a:t>09-02-2026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785240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AA89A1-F17A-4D3D-AC08-D16056C16514}" type="datetimeFigureOut">
              <a:rPr lang="en-IN" smtClean="0"/>
              <a:t>09-02-2026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2751787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AA89A1-F17A-4D3D-AC08-D16056C16514}" type="datetimeFigureOut">
              <a:rPr lang="en-IN" smtClean="0"/>
              <a:t>09-02-2026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29679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AA89A1-F17A-4D3D-AC08-D16056C16514}" type="datetimeFigureOut">
              <a:rPr lang="en-IN" smtClean="0"/>
              <a:t>09-02-2026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368684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09-02-2026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362755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09-02-2026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795389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AA89A1-F17A-4D3D-AC08-D16056C16514}" type="datetimeFigureOut">
              <a:rPr lang="en-IN" smtClean="0"/>
              <a:t>09-02-2026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21C46D-3F04-4F73-BF36-E6D9DA5AE143}" type="slidenum">
              <a:rPr lang="en-IN" smtClean="0"/>
              <a:t>‹#›</a:t>
            </a:fld>
            <a:endParaRPr lang="en-IN"/>
          </a:p>
        </p:txBody>
      </p:sp>
    </p:spTree>
    <p:extLst>
      <p:ext uri="{BB962C8B-B14F-4D97-AF65-F5344CB8AC3E}">
        <p14:creationId xmlns:p14="http://schemas.microsoft.com/office/powerpoint/2010/main" val="40687599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PT Admission Drive 2021-22-final-2_Page_01.jpg"/>
          <p:cNvPicPr>
            <a:picLocks noChangeAspect="1"/>
          </p:cNvPicPr>
          <p:nvPr/>
        </p:nvPicPr>
        <p:blipFill>
          <a:blip r:embed="rId2"/>
          <a:stretch>
            <a:fillRect/>
          </a:stretch>
        </p:blipFill>
        <p:spPr>
          <a:xfrm>
            <a:off x="-36512" y="0"/>
            <a:ext cx="9144000" cy="6850383"/>
          </a:xfrm>
          <a:prstGeom prst="rect">
            <a:avLst/>
          </a:prstGeom>
        </p:spPr>
      </p:pic>
    </p:spTree>
  </p:cSld>
  <p:clrMapOvr>
    <a:masterClrMapping/>
  </p:clrMapOvr>
  <p:transition>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4260" y="-27384"/>
            <a:ext cx="9180512" cy="6885384"/>
          </a:xfrm>
        </p:spPr>
      </p:pic>
      <p:cxnSp>
        <p:nvCxnSpPr>
          <p:cNvPr id="11" name="Straight Connector 10"/>
          <p:cNvCxnSpPr/>
          <p:nvPr/>
        </p:nvCxnSpPr>
        <p:spPr>
          <a:xfrm>
            <a:off x="1475656" y="2204864"/>
            <a:ext cx="6306546" cy="0"/>
          </a:xfrm>
          <a:prstGeom prst="line">
            <a:avLst/>
          </a:prstGeom>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70382" y="150274"/>
            <a:ext cx="6396065" cy="920873"/>
          </a:xfrm>
          <a:prstGeom prst="rect">
            <a:avLst/>
          </a:prstGeom>
        </p:spPr>
      </p:pic>
      <p:sp>
        <p:nvSpPr>
          <p:cNvPr id="13" name="TextBox 12"/>
          <p:cNvSpPr txBox="1"/>
          <p:nvPr/>
        </p:nvSpPr>
        <p:spPr>
          <a:xfrm>
            <a:off x="236440" y="2219553"/>
            <a:ext cx="8784976" cy="830997"/>
          </a:xfrm>
          <a:prstGeom prst="rect">
            <a:avLst/>
          </a:prstGeom>
          <a:noFill/>
        </p:spPr>
        <p:txBody>
          <a:bodyPr wrap="square" rtlCol="0">
            <a:spAutoFit/>
          </a:bodyPr>
          <a:lstStyle/>
          <a:p>
            <a:pPr lvl="0" algn="ctr">
              <a:buSzPct val="25000"/>
            </a:pPr>
            <a:r>
              <a:rPr lang="en-IN" sz="2400" b="1" dirty="0">
                <a:solidFill>
                  <a:srgbClr val="0070C0"/>
                </a:solidFill>
                <a:ea typeface="Cambria" panose="02040503050406030204" pitchFamily="18" charset="0"/>
                <a:cs typeface="Times New Roman" panose="02020603050405020304" pitchFamily="18" charset="0"/>
                <a:sym typeface="Arial"/>
              </a:rPr>
              <a:t>First Year Project Synopsis</a:t>
            </a:r>
          </a:p>
          <a:p>
            <a:pPr lvl="0" algn="ctr">
              <a:buSzPct val="25000"/>
            </a:pPr>
            <a:r>
              <a:rPr lang="en-IN" sz="2400" b="1" dirty="0">
                <a:solidFill>
                  <a:srgbClr val="0070C0"/>
                </a:solidFill>
                <a:ea typeface="Cambria" panose="02040503050406030204" pitchFamily="18" charset="0"/>
                <a:cs typeface="Times New Roman" panose="02020603050405020304" pitchFamily="18" charset="0"/>
                <a:sym typeface="Arial"/>
              </a:rPr>
              <a:t>Submitted by</a:t>
            </a:r>
          </a:p>
        </p:txBody>
      </p:sp>
      <p:sp>
        <p:nvSpPr>
          <p:cNvPr id="5" name="TextBox 4">
            <a:extLst>
              <a:ext uri="{FF2B5EF4-FFF2-40B4-BE49-F238E27FC236}">
                <a16:creationId xmlns:a16="http://schemas.microsoft.com/office/drawing/2014/main" id="{3DF18845-4075-32C5-8F4A-4F40F86E837F}"/>
              </a:ext>
            </a:extLst>
          </p:cNvPr>
          <p:cNvSpPr txBox="1"/>
          <p:nvPr/>
        </p:nvSpPr>
        <p:spPr>
          <a:xfrm>
            <a:off x="351992" y="1091027"/>
            <a:ext cx="8352928" cy="954107"/>
          </a:xfrm>
          <a:prstGeom prst="rect">
            <a:avLst/>
          </a:prstGeom>
          <a:noFill/>
        </p:spPr>
        <p:txBody>
          <a:bodyPr wrap="square">
            <a:spAutoFit/>
          </a:bodyPr>
          <a:lstStyle/>
          <a:p>
            <a:pPr lvl="0" algn="ctr">
              <a:buSzPct val="25000"/>
            </a:pPr>
            <a:r>
              <a:rPr lang="en-US" sz="2800" b="1" dirty="0">
                <a:solidFill>
                  <a:srgbClr val="C00000"/>
                </a:solidFill>
                <a:ea typeface="Cambria" panose="02040503050406030204" pitchFamily="18" charset="0"/>
                <a:cs typeface="Times New Roman" panose="02020603050405020304" pitchFamily="18" charset="0"/>
                <a:sym typeface="Arial"/>
              </a:rPr>
              <a:t>RSSI-Based Gradient Descent Approach for Collaborative Robot Localization and Navigation</a:t>
            </a:r>
            <a:endParaRPr lang="en-IN" sz="2800" b="1" dirty="0">
              <a:solidFill>
                <a:srgbClr val="C00000"/>
              </a:solidFill>
              <a:ea typeface="Cambria" panose="02040503050406030204" pitchFamily="18" charset="0"/>
              <a:cs typeface="Times New Roman" panose="02020603050405020304" pitchFamily="18" charset="0"/>
              <a:sym typeface="Arial"/>
            </a:endParaRPr>
          </a:p>
        </p:txBody>
      </p:sp>
      <p:sp>
        <p:nvSpPr>
          <p:cNvPr id="8" name="TextBox 7">
            <a:extLst>
              <a:ext uri="{FF2B5EF4-FFF2-40B4-BE49-F238E27FC236}">
                <a16:creationId xmlns:a16="http://schemas.microsoft.com/office/drawing/2014/main" id="{40D4C745-33B7-0116-E20F-11A7F0DFD46F}"/>
              </a:ext>
            </a:extLst>
          </p:cNvPr>
          <p:cNvSpPr txBox="1"/>
          <p:nvPr/>
        </p:nvSpPr>
        <p:spPr>
          <a:xfrm>
            <a:off x="236440" y="5733256"/>
            <a:ext cx="8584032" cy="369332"/>
          </a:xfrm>
          <a:prstGeom prst="rect">
            <a:avLst/>
          </a:prstGeom>
          <a:noFill/>
        </p:spPr>
        <p:txBody>
          <a:bodyPr wrap="square">
            <a:spAutoFit/>
          </a:bodyPr>
          <a:lstStyle/>
          <a:p>
            <a:pPr>
              <a:buSzPct val="25000"/>
            </a:pPr>
            <a:r>
              <a:rPr lang="en-IN" b="1" dirty="0">
                <a:solidFill>
                  <a:srgbClr val="0070C0"/>
                </a:solidFill>
                <a:ea typeface="Cambria" panose="02040503050406030204" pitchFamily="18" charset="0"/>
                <a:cs typeface="Times New Roman" panose="02020603050405020304" pitchFamily="18" charset="0"/>
                <a:sym typeface="Arial"/>
              </a:rPr>
              <a:t>Faculty Mentor:</a:t>
            </a:r>
            <a:r>
              <a:rPr lang="en-IN" sz="1800" b="1" dirty="0">
                <a:solidFill>
                  <a:srgbClr val="0070C0"/>
                </a:solidFill>
                <a:ea typeface="Cambria" panose="02040503050406030204" pitchFamily="18" charset="0"/>
                <a:cs typeface="Times New Roman" panose="02020603050405020304" pitchFamily="18" charset="0"/>
                <a:sym typeface="Arial"/>
              </a:rPr>
              <a:t> </a:t>
            </a:r>
            <a:r>
              <a:rPr lang="en-IN" b="1" dirty="0">
                <a:ea typeface="Cambria" panose="02040503050406030204" pitchFamily="18" charset="0"/>
                <a:cs typeface="Times New Roman" panose="02020603050405020304" pitchFamily="18" charset="0"/>
              </a:rPr>
              <a:t>Dr.</a:t>
            </a:r>
            <a:r>
              <a:rPr lang="en-IN" dirty="0"/>
              <a:t> </a:t>
            </a:r>
            <a:r>
              <a:rPr lang="en-IN" b="1" dirty="0">
                <a:ea typeface="Cambria" panose="02040503050406030204" pitchFamily="18" charset="0"/>
                <a:cs typeface="Times New Roman" panose="02020603050405020304" pitchFamily="18" charset="0"/>
              </a:rPr>
              <a:t>Shweta</a:t>
            </a:r>
            <a:r>
              <a:rPr lang="en-IN" dirty="0"/>
              <a:t> </a:t>
            </a:r>
            <a:r>
              <a:rPr lang="en-IN" b="1" dirty="0">
                <a:ea typeface="Cambria" panose="02040503050406030204" pitchFamily="18" charset="0"/>
                <a:cs typeface="Times New Roman" panose="02020603050405020304" pitchFamily="18" charset="0"/>
              </a:rPr>
              <a:t>Agarwal</a:t>
            </a:r>
          </a:p>
        </p:txBody>
      </p:sp>
      <p:graphicFrame>
        <p:nvGraphicFramePr>
          <p:cNvPr id="7" name="Table 6">
            <a:extLst>
              <a:ext uri="{FF2B5EF4-FFF2-40B4-BE49-F238E27FC236}">
                <a16:creationId xmlns:a16="http://schemas.microsoft.com/office/drawing/2014/main" id="{F35564FA-A20B-8425-4571-250D5E214BE7}"/>
              </a:ext>
            </a:extLst>
          </p:cNvPr>
          <p:cNvGraphicFramePr>
            <a:graphicFrameLocks noGrp="1"/>
          </p:cNvGraphicFramePr>
          <p:nvPr>
            <p:extLst>
              <p:ext uri="{D42A27DB-BD31-4B8C-83A1-F6EECF244321}">
                <p14:modId xmlns:p14="http://schemas.microsoft.com/office/powerpoint/2010/main" val="107728662"/>
              </p:ext>
            </p:extLst>
          </p:nvPr>
        </p:nvGraphicFramePr>
        <p:xfrm>
          <a:off x="1393514" y="3159379"/>
          <a:ext cx="6096000" cy="222504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848178115"/>
                    </a:ext>
                  </a:extLst>
                </a:gridCol>
                <a:gridCol w="3048000">
                  <a:extLst>
                    <a:ext uri="{9D8B030D-6E8A-4147-A177-3AD203B41FA5}">
                      <a16:colId xmlns:a16="http://schemas.microsoft.com/office/drawing/2014/main" val="1667812733"/>
                    </a:ext>
                  </a:extLst>
                </a:gridCol>
              </a:tblGrid>
              <a:tr h="370840">
                <a:tc>
                  <a:txBody>
                    <a:bodyPr/>
                    <a:lstStyle/>
                    <a:p>
                      <a:pPr algn="ctr"/>
                      <a:r>
                        <a:rPr lang="en-IN" dirty="0"/>
                        <a:t>ROLL</a:t>
                      </a:r>
                    </a:p>
                  </a:txBody>
                  <a:tcPr/>
                </a:tc>
                <a:tc>
                  <a:txBody>
                    <a:bodyPr/>
                    <a:lstStyle/>
                    <a:p>
                      <a:pPr algn="ctr"/>
                      <a:r>
                        <a:rPr lang="en-IN" dirty="0"/>
                        <a:t> NAME</a:t>
                      </a:r>
                    </a:p>
                  </a:txBody>
                  <a:tcPr/>
                </a:tc>
                <a:extLst>
                  <a:ext uri="{0D108BD9-81ED-4DB2-BD59-A6C34878D82A}">
                    <a16:rowId xmlns:a16="http://schemas.microsoft.com/office/drawing/2014/main" val="1477623240"/>
                  </a:ext>
                </a:extLst>
              </a:tr>
              <a:tr h="370840">
                <a:tc>
                  <a:txBody>
                    <a:bodyPr/>
                    <a:lstStyle/>
                    <a:p>
                      <a:pPr algn="ctr"/>
                      <a:r>
                        <a:rPr lang="en-IN" dirty="0"/>
                        <a:t>2501940002</a:t>
                      </a:r>
                    </a:p>
                  </a:txBody>
                  <a:tcPr/>
                </a:tc>
                <a:tc>
                  <a:txBody>
                    <a:bodyPr/>
                    <a:lstStyle/>
                    <a:p>
                      <a:pPr algn="ctr"/>
                      <a:r>
                        <a:rPr lang="en-IN" dirty="0"/>
                        <a:t>Ram Kumar Singh</a:t>
                      </a:r>
                    </a:p>
                  </a:txBody>
                  <a:tcPr/>
                </a:tc>
                <a:extLst>
                  <a:ext uri="{0D108BD9-81ED-4DB2-BD59-A6C34878D82A}">
                    <a16:rowId xmlns:a16="http://schemas.microsoft.com/office/drawing/2014/main" val="36975809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kern="1200" dirty="0">
                          <a:solidFill>
                            <a:schemeClr val="dk1"/>
                          </a:solidFill>
                          <a:effectLst/>
                          <a:latin typeface="+mn-lt"/>
                          <a:ea typeface="+mn-ea"/>
                          <a:cs typeface="+mn-cs"/>
                        </a:rPr>
                        <a:t>2501940014</a:t>
                      </a:r>
                      <a:endParaRPr lang="en-IN" dirty="0">
                        <a:effectLs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kern="1200" dirty="0">
                          <a:solidFill>
                            <a:schemeClr val="dk1"/>
                          </a:solidFill>
                          <a:effectLst/>
                          <a:latin typeface="+mn-lt"/>
                          <a:ea typeface="+mn-ea"/>
                          <a:cs typeface="+mn-cs"/>
                        </a:rPr>
                        <a:t>Shubham Goel</a:t>
                      </a:r>
                      <a:endParaRPr lang="en-IN" dirty="0">
                        <a:effectLst/>
                      </a:endParaRPr>
                    </a:p>
                  </a:txBody>
                  <a:tcPr/>
                </a:tc>
                <a:extLst>
                  <a:ext uri="{0D108BD9-81ED-4DB2-BD59-A6C34878D82A}">
                    <a16:rowId xmlns:a16="http://schemas.microsoft.com/office/drawing/2014/main" val="41437121"/>
                  </a:ext>
                </a:extLst>
              </a:tr>
              <a:tr h="370840">
                <a:tc>
                  <a:txBody>
                    <a:bodyPr/>
                    <a:lstStyle/>
                    <a:p>
                      <a:pPr algn="ctr"/>
                      <a:r>
                        <a:rPr lang="en-IN" dirty="0"/>
                        <a:t>2501940019</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Jagdish Nayak</a:t>
                      </a:r>
                    </a:p>
                  </a:txBody>
                  <a:tcPr/>
                </a:tc>
                <a:extLst>
                  <a:ext uri="{0D108BD9-81ED-4DB2-BD59-A6C34878D82A}">
                    <a16:rowId xmlns:a16="http://schemas.microsoft.com/office/drawing/2014/main" val="4041885400"/>
                  </a:ext>
                </a:extLst>
              </a:tr>
              <a:tr h="370840">
                <a:tc>
                  <a:txBody>
                    <a:bodyPr/>
                    <a:lstStyle/>
                    <a:p>
                      <a:pPr algn="ctr"/>
                      <a:r>
                        <a:rPr lang="en-IN" dirty="0"/>
                        <a:t>2501940055</a:t>
                      </a:r>
                    </a:p>
                  </a:txBody>
                  <a:tcPr/>
                </a:tc>
                <a:tc>
                  <a:txBody>
                    <a:bodyPr/>
                    <a:lstStyle/>
                    <a:p>
                      <a:pPr algn="ctr"/>
                      <a:r>
                        <a:rPr lang="en-IN" dirty="0"/>
                        <a:t>Tushar Singh</a:t>
                      </a:r>
                    </a:p>
                  </a:txBody>
                  <a:tcPr/>
                </a:tc>
                <a:extLst>
                  <a:ext uri="{0D108BD9-81ED-4DB2-BD59-A6C34878D82A}">
                    <a16:rowId xmlns:a16="http://schemas.microsoft.com/office/drawing/2014/main" val="3304582357"/>
                  </a:ext>
                </a:extLst>
              </a:tr>
              <a:tr h="370840">
                <a:tc>
                  <a:txBody>
                    <a:bodyPr/>
                    <a:lstStyle/>
                    <a:p>
                      <a:pPr algn="ctr"/>
                      <a:r>
                        <a:rPr lang="en-IN" dirty="0"/>
                        <a:t>2501940065</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Vishakha Gaur</a:t>
                      </a:r>
                    </a:p>
                  </a:txBody>
                  <a:tcPr/>
                </a:tc>
                <a:extLst>
                  <a:ext uri="{0D108BD9-81ED-4DB2-BD59-A6C34878D82A}">
                    <a16:rowId xmlns:a16="http://schemas.microsoft.com/office/drawing/2014/main" val="892659136"/>
                  </a:ext>
                </a:extLst>
              </a:tr>
            </a:tbl>
          </a:graphicData>
        </a:graphic>
      </p:graphicFrame>
    </p:spTree>
    <p:extLst>
      <p:ext uri="{BB962C8B-B14F-4D97-AF65-F5344CB8AC3E}">
        <p14:creationId xmlns:p14="http://schemas.microsoft.com/office/powerpoint/2010/main" val="4142536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 y="1"/>
            <a:ext cx="9180510" cy="6885382"/>
          </a:xfrm>
        </p:spPr>
      </p:pic>
      <p:sp>
        <p:nvSpPr>
          <p:cNvPr id="5" name="Rectangle 1"/>
          <p:cNvSpPr>
            <a:spLocks noChangeArrowheads="1"/>
          </p:cNvSpPr>
          <p:nvPr/>
        </p:nvSpPr>
        <p:spPr bwMode="auto">
          <a:xfrm>
            <a:off x="179512" y="151593"/>
            <a:ext cx="415370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Overview</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14" name="TextBox 13">
            <a:extLst>
              <a:ext uri="{FF2B5EF4-FFF2-40B4-BE49-F238E27FC236}">
                <a16:creationId xmlns:a16="http://schemas.microsoft.com/office/drawing/2014/main" id="{410DDEB0-2725-D8A6-4306-665F683B4BE1}"/>
              </a:ext>
            </a:extLst>
          </p:cNvPr>
          <p:cNvSpPr txBox="1"/>
          <p:nvPr/>
        </p:nvSpPr>
        <p:spPr>
          <a:xfrm>
            <a:off x="251520" y="1322759"/>
            <a:ext cx="8640960" cy="4770537"/>
          </a:xfrm>
          <a:prstGeom prst="rect">
            <a:avLst/>
          </a:prstGeom>
          <a:noFill/>
        </p:spPr>
        <p:txBody>
          <a:bodyPr wrap="square" rtlCol="0">
            <a:spAutoFit/>
          </a:bodyPr>
          <a:lstStyle/>
          <a:p>
            <a:r>
              <a:rPr lang="en-US" sz="1600" dirty="0"/>
              <a:t>Collaborative robotic systems are increasingly used in environments where GPS and predefined maps are unavailable or unreliable. Traditional navigation approaches often depend on centralized control or external infrastructure, which limits scalability and adaptability. To overcome these challenges, this project proposes an </a:t>
            </a:r>
            <a:r>
              <a:rPr lang="en-US" sz="1600" b="1" dirty="0"/>
              <a:t>RSSI-based gradient descent collaborative robot system</a:t>
            </a:r>
            <a:r>
              <a:rPr lang="en-US" sz="1600" dirty="0"/>
              <a:t> that enables multiple robots to autonomously locate and coordinate with each other in unknown environments.</a:t>
            </a:r>
          </a:p>
          <a:p>
            <a:endParaRPr lang="en-US" sz="1600" dirty="0"/>
          </a:p>
          <a:p>
            <a:r>
              <a:rPr lang="en-US" sz="1600" dirty="0"/>
              <a:t>The system uses </a:t>
            </a:r>
            <a:r>
              <a:rPr lang="en-US" sz="1600" b="1" dirty="0"/>
              <a:t>Received Signal Strength Indicator (RSSI)</a:t>
            </a:r>
            <a:r>
              <a:rPr lang="en-US" sz="1600" dirty="0"/>
              <a:t> values obtained through wireless communication between robots as a measure of relative proximity. Each robot treats the RSSI value as an optimization objective and applies a </a:t>
            </a:r>
            <a:r>
              <a:rPr lang="en-US" sz="1600" b="1" dirty="0"/>
              <a:t>gradient descent–based algorithm</a:t>
            </a:r>
            <a:r>
              <a:rPr lang="en-US" sz="1600" dirty="0"/>
              <a:t> to determine the direction of movement that maximizes signal strength. By continuously adjusting movement based on RSSI variations, robots gradually move closer to one another and achieve coordinated behavior without GPS or centralized supervision.</a:t>
            </a:r>
          </a:p>
          <a:p>
            <a:endParaRPr lang="en-US" sz="1600" dirty="0"/>
          </a:p>
          <a:p>
            <a:r>
              <a:rPr lang="en-US" sz="1600" dirty="0"/>
              <a:t>The proposed approach follows a </a:t>
            </a:r>
            <a:r>
              <a:rPr lang="en-US" sz="1600" b="1" dirty="0"/>
              <a:t>decentralized architecture</a:t>
            </a:r>
            <a:r>
              <a:rPr lang="en-US" sz="1600" dirty="0"/>
              <a:t>, allowing each robot to make independent navigation decisions. This improves system robustness, scalability, and fault tolerance while minimizing hardware complexity. The intelligence of the system lies primarily in software-based optimization and decision-making. The effectiveness of the proposed method is demonstrated through simulation and/or minimal hardware implementation, making it suitable for applications such as indoor navigation, swarm robotics, warehouse automation, and search-and-rescue operations.</a:t>
            </a:r>
            <a:endParaRPr lang="en-IN" sz="1600" dirty="0"/>
          </a:p>
        </p:txBody>
      </p:sp>
    </p:spTree>
    <p:extLst>
      <p:ext uri="{BB962C8B-B14F-4D97-AF65-F5344CB8AC3E}">
        <p14:creationId xmlns:p14="http://schemas.microsoft.com/office/powerpoint/2010/main" val="3353784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5432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Specific Objectives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5AC56E52-93CA-CD24-E623-CEBCB944D0E8}"/>
              </a:ext>
            </a:extLst>
          </p:cNvPr>
          <p:cNvSpPr txBox="1"/>
          <p:nvPr/>
        </p:nvSpPr>
        <p:spPr>
          <a:xfrm>
            <a:off x="323528" y="1525009"/>
            <a:ext cx="8136904" cy="3785652"/>
          </a:xfrm>
          <a:prstGeom prst="rect">
            <a:avLst/>
          </a:prstGeom>
          <a:noFill/>
        </p:spPr>
        <p:txBody>
          <a:bodyPr wrap="square" rtlCol="0">
            <a:spAutoFit/>
          </a:bodyPr>
          <a:lstStyle/>
          <a:p>
            <a:pPr marL="285750" indent="-285750">
              <a:buFont typeface="Arial" panose="020B0604020202020204" pitchFamily="34" charset="0"/>
              <a:buChar char="•"/>
            </a:pPr>
            <a:r>
              <a:rPr lang="en-US" sz="1600" dirty="0"/>
              <a:t>To design and develop an RSSI-based collaborative robot system for autonomous navigation without GPS or predefined maps.</a:t>
            </a:r>
          </a:p>
          <a:p>
            <a:pPr marL="285750" indent="-285750">
              <a:buFont typeface="Arial" panose="020B0604020202020204" pitchFamily="34" charset="0"/>
              <a:buChar char="•"/>
            </a:pPr>
            <a:r>
              <a:rPr lang="en-US" sz="1600" dirty="0"/>
              <a:t>To utilize </a:t>
            </a:r>
            <a:r>
              <a:rPr lang="en-US" sz="1600" b="1" dirty="0"/>
              <a:t>Received Signal Strength Indicator (RSSI)</a:t>
            </a:r>
            <a:r>
              <a:rPr lang="en-US" sz="1600" dirty="0"/>
              <a:t> values as a feedback mechanism for estimating relative distance between robots.</a:t>
            </a:r>
          </a:p>
          <a:p>
            <a:pPr marL="285750" indent="-285750">
              <a:buFont typeface="Arial" panose="020B0604020202020204" pitchFamily="34" charset="0"/>
              <a:buChar char="•"/>
            </a:pPr>
            <a:r>
              <a:rPr lang="en-US" sz="1600" dirty="0"/>
              <a:t>To implement a </a:t>
            </a:r>
            <a:r>
              <a:rPr lang="en-US" sz="1600" b="1" dirty="0"/>
              <a:t>gradient descent–based optimization algorithm</a:t>
            </a:r>
            <a:r>
              <a:rPr lang="en-US" sz="1600" dirty="0"/>
              <a:t> for determining the optimal direction of robot movement.</a:t>
            </a:r>
          </a:p>
          <a:p>
            <a:pPr marL="285750" indent="-285750">
              <a:buFont typeface="Arial" panose="020B0604020202020204" pitchFamily="34" charset="0"/>
              <a:buChar char="•"/>
            </a:pPr>
            <a:r>
              <a:rPr lang="en-US" sz="1600" dirty="0"/>
              <a:t>To enable </a:t>
            </a:r>
            <a:r>
              <a:rPr lang="en-US" sz="1600" b="1" dirty="0"/>
              <a:t>decentralized decision-making</a:t>
            </a:r>
            <a:r>
              <a:rPr lang="en-US" sz="1600" dirty="0"/>
              <a:t>, allowing each robot to operate independently without a central controller.</a:t>
            </a:r>
          </a:p>
          <a:p>
            <a:pPr marL="285750" indent="-285750">
              <a:buFont typeface="Arial" panose="020B0604020202020204" pitchFamily="34" charset="0"/>
              <a:buChar char="•"/>
            </a:pPr>
            <a:r>
              <a:rPr lang="en-US" sz="1600" dirty="0"/>
              <a:t>To analyze the effect of RSSI variations on robot movement and convergence behavior.</a:t>
            </a:r>
          </a:p>
          <a:p>
            <a:pPr marL="285750" indent="-285750">
              <a:buFont typeface="Arial" panose="020B0604020202020204" pitchFamily="34" charset="0"/>
              <a:buChar char="•"/>
            </a:pPr>
            <a:r>
              <a:rPr lang="en-US" sz="1600" dirty="0"/>
              <a:t>To minimize hardware complexity by emphasizing </a:t>
            </a:r>
            <a:r>
              <a:rPr lang="en-US" sz="1600" b="1" dirty="0"/>
              <a:t>software-driven intelligence and optimization techniques</a:t>
            </a:r>
            <a:r>
              <a:rPr lang="en-US" sz="1600" dirty="0"/>
              <a:t>.</a:t>
            </a:r>
          </a:p>
          <a:p>
            <a:pPr marL="285750" indent="-285750">
              <a:buFont typeface="Arial" panose="020B0604020202020204" pitchFamily="34" charset="0"/>
              <a:buChar char="•"/>
            </a:pPr>
            <a:r>
              <a:rPr lang="en-US" sz="1600" dirty="0"/>
              <a:t>To validate the proposed approach through </a:t>
            </a:r>
            <a:r>
              <a:rPr lang="en-US" sz="1600" b="1" dirty="0"/>
              <a:t>simulation and/or minimal hardware implementation</a:t>
            </a:r>
            <a:r>
              <a:rPr lang="en-US" sz="1600" dirty="0"/>
              <a:t>.</a:t>
            </a:r>
          </a:p>
          <a:p>
            <a:pPr marL="285750" indent="-285750">
              <a:buFont typeface="Arial" panose="020B0604020202020204" pitchFamily="34" charset="0"/>
              <a:buChar char="•"/>
            </a:pPr>
            <a:r>
              <a:rPr lang="en-US" sz="1600" dirty="0"/>
              <a:t>To demonstrate the applicability of the system in real-world scenarios such as </a:t>
            </a:r>
            <a:r>
              <a:rPr lang="en-US" sz="1600" b="1" dirty="0"/>
              <a:t>indoor navigation, swarm robotics, and search-and-rescue </a:t>
            </a:r>
            <a:r>
              <a:rPr lang="en-US" sz="1600" b="1"/>
              <a:t>operations</a:t>
            </a:r>
            <a:r>
              <a:rPr lang="en-US" sz="1600"/>
              <a:t>.</a:t>
            </a:r>
            <a:endParaRPr lang="en-IN" sz="1600" dirty="0"/>
          </a:p>
        </p:txBody>
      </p:sp>
    </p:spTree>
    <p:extLst>
      <p:ext uri="{BB962C8B-B14F-4D97-AF65-F5344CB8AC3E}">
        <p14:creationId xmlns:p14="http://schemas.microsoft.com/office/powerpoint/2010/main" val="10473292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392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Key Features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E6480022-3BD4-BA94-898F-9B694D719CFA}"/>
              </a:ext>
            </a:extLst>
          </p:cNvPr>
          <p:cNvSpPr txBox="1"/>
          <p:nvPr/>
        </p:nvSpPr>
        <p:spPr>
          <a:xfrm>
            <a:off x="539552" y="1484784"/>
            <a:ext cx="8136904" cy="4031873"/>
          </a:xfrm>
          <a:prstGeom prst="rect">
            <a:avLst/>
          </a:prstGeom>
          <a:noFill/>
        </p:spPr>
        <p:txBody>
          <a:bodyPr wrap="square" rtlCol="0">
            <a:spAutoFit/>
          </a:bodyPr>
          <a:lstStyle/>
          <a:p>
            <a:pPr marL="285750" indent="-285750">
              <a:buFont typeface="Arial" panose="020B0604020202020204" pitchFamily="34" charset="0"/>
              <a:buChar char="•"/>
            </a:pPr>
            <a:r>
              <a:rPr lang="en-US" sz="1600" b="1" dirty="0"/>
              <a:t>RSSI-Based Navigation:</a:t>
            </a:r>
            <a:br>
              <a:rPr lang="en-US" sz="1600" dirty="0"/>
            </a:br>
            <a:r>
              <a:rPr lang="en-US" sz="1600" dirty="0"/>
              <a:t>Utilizes Received Signal Strength Indicator (RSSI) values from wireless communication to estimate relative proximity between robots without GPS.</a:t>
            </a:r>
          </a:p>
          <a:p>
            <a:pPr marL="285750" indent="-285750">
              <a:buFont typeface="Arial" panose="020B0604020202020204" pitchFamily="34" charset="0"/>
              <a:buChar char="•"/>
            </a:pPr>
            <a:r>
              <a:rPr lang="en-US" sz="1600" b="1" dirty="0"/>
              <a:t>Gradient Descent Optimization:</a:t>
            </a:r>
            <a:br>
              <a:rPr lang="en-US" sz="1600" dirty="0"/>
            </a:br>
            <a:r>
              <a:rPr lang="en-US" sz="1600" dirty="0"/>
              <a:t>Applies a gradient descent–based algorithm to guide robot movement by continuously maximizing RSSI values.</a:t>
            </a:r>
          </a:p>
          <a:p>
            <a:pPr marL="285750" indent="-285750">
              <a:buFont typeface="Arial" panose="020B0604020202020204" pitchFamily="34" charset="0"/>
              <a:buChar char="•"/>
            </a:pPr>
            <a:r>
              <a:rPr lang="en-US" sz="1600" b="1" dirty="0"/>
              <a:t>Decentralized Control Architecture/</a:t>
            </a:r>
            <a:r>
              <a:rPr lang="en-IN" sz="1600" b="1" dirty="0"/>
              <a:t>Autonomous Operation</a:t>
            </a:r>
            <a:r>
              <a:rPr lang="en-US" sz="1600" b="1" dirty="0"/>
              <a:t>:</a:t>
            </a:r>
            <a:br>
              <a:rPr lang="en-US" sz="1600" b="1" dirty="0"/>
            </a:br>
            <a:r>
              <a:rPr lang="en-US" sz="1600" dirty="0"/>
              <a:t>Enables each robot to make independent navigation decisions without reliance on a central controller. The robot operates independently without human intervention, making real-time navigation decisions based solely on sensor feedback and RSSI measurements</a:t>
            </a:r>
          </a:p>
          <a:p>
            <a:pPr marL="285750" indent="-285750">
              <a:buFont typeface="Arial" panose="020B0604020202020204" pitchFamily="34" charset="0"/>
              <a:buChar char="•"/>
            </a:pPr>
            <a:r>
              <a:rPr lang="en-US" sz="1600" b="1" dirty="0"/>
              <a:t>Minimal Hardware Dependency:</a:t>
            </a:r>
            <a:br>
              <a:rPr lang="en-US" sz="1600" dirty="0"/>
            </a:br>
            <a:r>
              <a:rPr lang="en-US" sz="1600" dirty="0"/>
              <a:t>Focuses on software-based intelligence, reducing the need for complex sensors or infrastructure.</a:t>
            </a:r>
          </a:p>
          <a:p>
            <a:pPr marL="285750" indent="-285750">
              <a:buFont typeface="Arial" panose="020B0604020202020204" pitchFamily="34" charset="0"/>
              <a:buChar char="•"/>
            </a:pPr>
            <a:r>
              <a:rPr lang="en-US" sz="1600" b="1" dirty="0"/>
              <a:t>Scalable Multi-Robot System:</a:t>
            </a:r>
            <a:br>
              <a:rPr lang="en-US" sz="1600" dirty="0"/>
            </a:br>
            <a:r>
              <a:rPr lang="en-US" sz="1600" dirty="0"/>
              <a:t>Supports easy extension from two robots to multiple robots without major architectural changes.</a:t>
            </a:r>
            <a:endParaRPr lang="en-IN" sz="1600" dirty="0"/>
          </a:p>
        </p:txBody>
      </p:sp>
    </p:spTree>
    <p:extLst>
      <p:ext uri="{BB962C8B-B14F-4D97-AF65-F5344CB8AC3E}">
        <p14:creationId xmlns:p14="http://schemas.microsoft.com/office/powerpoint/2010/main" val="957423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625844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a:t>
            </a:r>
            <a:r>
              <a:rPr lang="en-US" sz="3200" b="1" kern="100" dirty="0" err="1">
                <a:effectLst/>
                <a:latin typeface="Verdana" panose="020B0604030504040204" pitchFamily="34" charset="0"/>
                <a:ea typeface="Times New Roman" panose="02020603050405020304" pitchFamily="18" charset="0"/>
                <a:cs typeface="Times New Roman" panose="02020603050405020304" pitchFamily="18" charset="0"/>
              </a:rPr>
              <a:t>Usecases</a:t>
            </a: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 &amp; Scope</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54B089EB-1FDE-A851-9BC9-8A8A86694399}"/>
              </a:ext>
            </a:extLst>
          </p:cNvPr>
          <p:cNvSpPr txBox="1"/>
          <p:nvPr/>
        </p:nvSpPr>
        <p:spPr>
          <a:xfrm>
            <a:off x="539552" y="1293834"/>
            <a:ext cx="8208912" cy="4770537"/>
          </a:xfrm>
          <a:prstGeom prst="rect">
            <a:avLst/>
          </a:prstGeom>
          <a:noFill/>
        </p:spPr>
        <p:txBody>
          <a:bodyPr wrap="square" rtlCol="0">
            <a:spAutoFit/>
          </a:bodyPr>
          <a:lstStyle/>
          <a:p>
            <a:r>
              <a:rPr lang="en-IN" sz="1600" dirty="0"/>
              <a:t>Project </a:t>
            </a:r>
            <a:r>
              <a:rPr lang="en-IN" sz="1600" dirty="0" err="1"/>
              <a:t>Usecases</a:t>
            </a:r>
            <a:r>
              <a:rPr lang="en-IN" sz="1600" dirty="0"/>
              <a:t>:-</a:t>
            </a:r>
          </a:p>
          <a:p>
            <a:pPr marL="285750" indent="-285750">
              <a:buFont typeface="Arial" panose="020B0604020202020204" pitchFamily="34" charset="0"/>
              <a:buChar char="•"/>
            </a:pPr>
            <a:r>
              <a:rPr lang="en-US" sz="1600" b="1" dirty="0"/>
              <a:t>Search and Rescue Operations:</a:t>
            </a:r>
            <a:br>
              <a:rPr lang="en-US" sz="1600" dirty="0"/>
            </a:br>
            <a:r>
              <a:rPr lang="en-US" sz="1600" dirty="0"/>
              <a:t>The robot can locate a wireless signal source (such as an access point or transmitter) using RSSI values, making it useful in signal tracking and source-finding applications. Useful in disaster-prone or hazardous environments where robots need to find and collaborate with each other without external infrastructure.</a:t>
            </a:r>
          </a:p>
          <a:p>
            <a:pPr marL="285750" indent="-285750">
              <a:buFont typeface="Arial" panose="020B0604020202020204" pitchFamily="34" charset="0"/>
              <a:buChar char="•"/>
            </a:pPr>
            <a:r>
              <a:rPr lang="en-US" sz="1600" b="1" dirty="0"/>
              <a:t>Indoor Robot Navigation:</a:t>
            </a:r>
            <a:br>
              <a:rPr lang="en-US" sz="1600" dirty="0"/>
            </a:br>
            <a:r>
              <a:rPr lang="en-US" sz="1600" dirty="0"/>
              <a:t>Enables robots to navigate and coordinate in indoor environments such as offices, malls, and hospitals where GPS is unavailable.</a:t>
            </a:r>
          </a:p>
          <a:p>
            <a:r>
              <a:rPr lang="en-US" sz="1600" dirty="0"/>
              <a:t>Project Scope:-</a:t>
            </a:r>
          </a:p>
          <a:p>
            <a:pPr marL="285750" indent="-285750">
              <a:buFont typeface="Arial" panose="020B0604020202020204" pitchFamily="34" charset="0"/>
              <a:buChar char="•"/>
            </a:pPr>
            <a:r>
              <a:rPr lang="en-US" sz="1600" dirty="0"/>
              <a:t>The project focuses on the design and implementation of an </a:t>
            </a:r>
            <a:r>
              <a:rPr lang="en-US" sz="1600" b="1" dirty="0"/>
              <a:t>ESP32-based autonomous mobile robot</a:t>
            </a:r>
            <a:r>
              <a:rPr lang="en-US" sz="1600" dirty="0"/>
              <a:t> capable of navigating toward a wireless signal source using </a:t>
            </a:r>
            <a:r>
              <a:rPr lang="en-US" sz="1600" b="1" dirty="0"/>
              <a:t>RSSI-based gradient descent techniques</a:t>
            </a:r>
            <a:r>
              <a:rPr lang="en-US" sz="1600" dirty="0"/>
              <a:t>.</a:t>
            </a:r>
          </a:p>
          <a:p>
            <a:pPr marL="285750" indent="-285750">
              <a:buFont typeface="Arial" panose="020B0604020202020204" pitchFamily="34" charset="0"/>
              <a:buChar char="•"/>
            </a:pPr>
            <a:r>
              <a:rPr lang="en-US" sz="1600" dirty="0"/>
              <a:t>Enables robot collaboration in environments where </a:t>
            </a:r>
            <a:r>
              <a:rPr lang="en-US" sz="1600" b="1" dirty="0"/>
              <a:t>GPS and predefined maps are unavailable</a:t>
            </a:r>
            <a:r>
              <a:rPr lang="en-US" sz="1600" dirty="0"/>
              <a:t>.</a:t>
            </a:r>
          </a:p>
          <a:p>
            <a:pPr marL="285750" indent="-285750">
              <a:buFont typeface="Arial" panose="020B0604020202020204" pitchFamily="34" charset="0"/>
              <a:buChar char="•"/>
            </a:pPr>
            <a:r>
              <a:rPr lang="en-US" sz="1600" dirty="0"/>
              <a:t>Provides a </a:t>
            </a:r>
            <a:r>
              <a:rPr lang="en-US" sz="1600" b="1" dirty="0"/>
              <a:t>software-driven solution</a:t>
            </a:r>
            <a:r>
              <a:rPr lang="en-US" sz="1600" dirty="0"/>
              <a:t> for relative localization using minimal sensing infrastructure. Advanced sensor fusion and real-time obstacle avoidance.</a:t>
            </a:r>
          </a:p>
          <a:p>
            <a:pPr marL="285750" indent="-285750">
              <a:buFont typeface="Arial" panose="020B0604020202020204" pitchFamily="34" charset="0"/>
              <a:buChar char="•"/>
            </a:pPr>
            <a:r>
              <a:rPr lang="en-US" sz="1600" dirty="0"/>
              <a:t>The scope is limited to </a:t>
            </a:r>
            <a:r>
              <a:rPr lang="en-US" sz="1600" b="1" dirty="0"/>
              <a:t>RSSI-based navigation and collaboration</a:t>
            </a:r>
            <a:r>
              <a:rPr lang="en-US" sz="1600" dirty="0"/>
              <a:t>; precise absolute positioning and advanced sensor fusion are not addressed and are considered future improvements.</a:t>
            </a:r>
            <a:endParaRPr lang="en-IN" sz="1600" dirty="0"/>
          </a:p>
        </p:txBody>
      </p:sp>
    </p:spTree>
    <p:extLst>
      <p:ext uri="{BB962C8B-B14F-4D97-AF65-F5344CB8AC3E}">
        <p14:creationId xmlns:p14="http://schemas.microsoft.com/office/powerpoint/2010/main" val="32958122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7133" y="47526"/>
            <a:ext cx="828092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Prototype/Project Flow diagram/Architecture</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pic>
        <p:nvPicPr>
          <p:cNvPr id="3" name="Picture 2">
            <a:extLst>
              <a:ext uri="{FF2B5EF4-FFF2-40B4-BE49-F238E27FC236}">
                <a16:creationId xmlns:a16="http://schemas.microsoft.com/office/drawing/2014/main" id="{B5B280DF-CBB8-734E-CB43-F85F8C54610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04754" y="1138052"/>
            <a:ext cx="6225677" cy="5171268"/>
          </a:xfrm>
          <a:prstGeom prst="rect">
            <a:avLst/>
          </a:prstGeom>
        </p:spPr>
      </p:pic>
    </p:spTree>
    <p:extLst>
      <p:ext uri="{BB962C8B-B14F-4D97-AF65-F5344CB8AC3E}">
        <p14:creationId xmlns:p14="http://schemas.microsoft.com/office/powerpoint/2010/main" val="2093371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03415" y="298973"/>
            <a:ext cx="4392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Data &amp; Resources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C67A919E-7DB1-E6B8-D950-8901A88C816D}"/>
              </a:ext>
            </a:extLst>
          </p:cNvPr>
          <p:cNvSpPr txBox="1"/>
          <p:nvPr/>
        </p:nvSpPr>
        <p:spPr>
          <a:xfrm>
            <a:off x="144015" y="1165212"/>
            <a:ext cx="8892481" cy="5262979"/>
          </a:xfrm>
          <a:prstGeom prst="rect">
            <a:avLst/>
          </a:prstGeom>
          <a:noFill/>
        </p:spPr>
        <p:txBody>
          <a:bodyPr wrap="square">
            <a:spAutoFit/>
          </a:bodyPr>
          <a:lstStyle/>
          <a:p>
            <a:r>
              <a:rPr lang="en-IN" sz="1600" b="1" dirty="0"/>
              <a:t>Data Used</a:t>
            </a:r>
          </a:p>
          <a:p>
            <a:pPr marL="285750" indent="-285750">
              <a:buFont typeface="Arial" panose="020B0604020202020204" pitchFamily="34" charset="0"/>
              <a:buChar char="•"/>
            </a:pPr>
            <a:r>
              <a:rPr lang="en-IN" sz="1600" b="1" dirty="0"/>
              <a:t>Wi-Fi RSSI Values: </a:t>
            </a:r>
          </a:p>
          <a:p>
            <a:pPr marL="285750" indent="-285750">
              <a:buFont typeface="Arial" panose="020B0604020202020204" pitchFamily="34" charset="0"/>
              <a:buChar char="•"/>
            </a:pPr>
            <a:r>
              <a:rPr lang="en-IN" sz="1600" dirty="0"/>
              <a:t>Real-time Received Signal Strength Indicator (RSSI) values collected from a stationary Wi-Fi signal platform.</a:t>
            </a:r>
          </a:p>
          <a:p>
            <a:pPr marL="285750" indent="-285750">
              <a:buFont typeface="Arial" panose="020B0604020202020204" pitchFamily="34" charset="0"/>
              <a:buChar char="•"/>
            </a:pPr>
            <a:r>
              <a:rPr lang="en-IN" sz="1600" b="1" dirty="0"/>
              <a:t>Sensor Data:</a:t>
            </a:r>
            <a:br>
              <a:rPr lang="en-IN" sz="1600" dirty="0"/>
            </a:br>
            <a:r>
              <a:rPr lang="en-IN" sz="1600" dirty="0"/>
              <a:t>Distance and proximity data obtained from ultrasonic and IR sensors for obstacle detection.</a:t>
            </a:r>
          </a:p>
          <a:p>
            <a:pPr marL="285750" indent="-285750">
              <a:buFont typeface="Arial" panose="020B0604020202020204" pitchFamily="34" charset="0"/>
              <a:buChar char="•"/>
            </a:pPr>
            <a:r>
              <a:rPr lang="en-IN" sz="1600" b="1" dirty="0"/>
              <a:t>IMU Data:</a:t>
            </a:r>
            <a:br>
              <a:rPr lang="en-IN" sz="1600" dirty="0"/>
            </a:br>
            <a:r>
              <a:rPr lang="en-IN" sz="1600" dirty="0"/>
              <a:t>Orientation and angular velocity data from the MPU6050 for motion stability and turn accuracy.</a:t>
            </a:r>
          </a:p>
          <a:p>
            <a:pPr marL="285750" indent="-285750">
              <a:buFont typeface="Arial" panose="020B0604020202020204" pitchFamily="34" charset="0"/>
              <a:buChar char="•"/>
            </a:pPr>
            <a:r>
              <a:rPr lang="en-IN" sz="1600" b="1" dirty="0"/>
              <a:t>System Logs:</a:t>
            </a:r>
            <a:br>
              <a:rPr lang="en-IN" sz="1600" dirty="0"/>
            </a:br>
            <a:r>
              <a:rPr lang="en-IN" sz="1600" dirty="0"/>
              <a:t>Motor speed, direction, and navigation state data used for testing and optimization.</a:t>
            </a:r>
          </a:p>
          <a:p>
            <a:endParaRPr lang="en-IN" sz="1600" b="1" dirty="0"/>
          </a:p>
          <a:p>
            <a:r>
              <a:rPr lang="en-IN" sz="1600" b="1" dirty="0"/>
              <a:t>Resources Utilized</a:t>
            </a:r>
          </a:p>
          <a:p>
            <a:pPr marL="285750" indent="-285750">
              <a:buFont typeface="Arial" panose="020B0604020202020204" pitchFamily="34" charset="0"/>
              <a:buChar char="•"/>
            </a:pPr>
            <a:r>
              <a:rPr lang="en-IN" sz="1600" b="1" dirty="0"/>
              <a:t>Hardware Resources:</a:t>
            </a:r>
            <a:br>
              <a:rPr lang="en-IN" sz="1600" dirty="0"/>
            </a:br>
            <a:r>
              <a:rPr lang="en-IN" sz="1600" dirty="0"/>
              <a:t>ESP32 microcontroller, motor driver, DC motors, ultrasonic sensor, IR sensor, MPU6050 IMU, battery and power management components.</a:t>
            </a:r>
          </a:p>
          <a:p>
            <a:pPr marL="285750" indent="-285750">
              <a:buFont typeface="Arial" panose="020B0604020202020204" pitchFamily="34" charset="0"/>
              <a:buChar char="•"/>
            </a:pPr>
            <a:r>
              <a:rPr lang="en-IN" sz="1600" b="1" dirty="0"/>
              <a:t>Software Resources:</a:t>
            </a:r>
            <a:br>
              <a:rPr lang="en-IN" sz="1600" dirty="0"/>
            </a:br>
            <a:r>
              <a:rPr lang="en-IN" sz="1600" dirty="0"/>
              <a:t>Arduino IDE, ESP32 Wi-Fi libraries, embedded C/C++ environment.</a:t>
            </a:r>
          </a:p>
          <a:p>
            <a:pPr marL="285750" indent="-285750">
              <a:buFont typeface="Arial" panose="020B0604020202020204" pitchFamily="34" charset="0"/>
              <a:buChar char="•"/>
            </a:pPr>
            <a:r>
              <a:rPr lang="en-IN" sz="1600" b="1" dirty="0"/>
              <a:t>Development Resources:</a:t>
            </a:r>
            <a:br>
              <a:rPr lang="en-IN" sz="1600" dirty="0"/>
            </a:br>
            <a:r>
              <a:rPr lang="en-IN" sz="1600" dirty="0"/>
              <a:t>Serial monitor for debugging, datasheets and technical documentation.</a:t>
            </a:r>
          </a:p>
          <a:p>
            <a:pPr marL="285750" indent="-285750">
              <a:buFont typeface="Arial" panose="020B0604020202020204" pitchFamily="34" charset="0"/>
              <a:buChar char="•"/>
            </a:pPr>
            <a:r>
              <a:rPr lang="en-IN" sz="1600" b="1" dirty="0"/>
              <a:t>Testing Environment:</a:t>
            </a:r>
            <a:br>
              <a:rPr lang="en-IN" sz="1600" dirty="0"/>
            </a:br>
            <a:r>
              <a:rPr lang="en-IN" sz="1600" dirty="0"/>
              <a:t>Indoor lab/classroom environment with controlled obstacles and signal source placement.</a:t>
            </a:r>
            <a:endParaRPr lang="en-US" sz="1600" b="0" i="0" dirty="0">
              <a:solidFill>
                <a:srgbClr val="374151"/>
              </a:solidFill>
              <a:effectLst/>
              <a:latin typeface="Söhne"/>
            </a:endParaRPr>
          </a:p>
        </p:txBody>
      </p:sp>
    </p:spTree>
    <p:extLst>
      <p:ext uri="{BB962C8B-B14F-4D97-AF65-F5344CB8AC3E}">
        <p14:creationId xmlns:p14="http://schemas.microsoft.com/office/powerpoint/2010/main" val="34490688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44047" y="0"/>
            <a:ext cx="9180512" cy="6885384"/>
          </a:xfrm>
        </p:spPr>
      </p:pic>
      <p:sp>
        <p:nvSpPr>
          <p:cNvPr id="5" name="Rectangle 1"/>
          <p:cNvSpPr>
            <a:spLocks noChangeArrowheads="1"/>
          </p:cNvSpPr>
          <p:nvPr/>
        </p:nvSpPr>
        <p:spPr bwMode="auto">
          <a:xfrm>
            <a:off x="103415" y="298973"/>
            <a:ext cx="4392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Methodology</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659AC123-1FF4-759B-44D8-95C077A7D7D5}"/>
              </a:ext>
            </a:extLst>
          </p:cNvPr>
          <p:cNvSpPr txBox="1"/>
          <p:nvPr/>
        </p:nvSpPr>
        <p:spPr>
          <a:xfrm>
            <a:off x="286882" y="1156802"/>
            <a:ext cx="8606747" cy="5232202"/>
          </a:xfrm>
          <a:prstGeom prst="rect">
            <a:avLst/>
          </a:prstGeom>
          <a:noFill/>
        </p:spPr>
        <p:txBody>
          <a:bodyPr wrap="square">
            <a:spAutoFit/>
          </a:bodyPr>
          <a:lstStyle/>
          <a:p>
            <a:pPr>
              <a:buFont typeface="Arial" panose="020B0604020202020204" pitchFamily="34" charset="0"/>
              <a:buChar char="•"/>
            </a:pPr>
            <a:r>
              <a:rPr lang="en-US" dirty="0"/>
              <a:t>The project uses an </a:t>
            </a:r>
            <a:r>
              <a:rPr lang="en-US" b="1" dirty="0"/>
              <a:t>RSSI-based gradient descent approach</a:t>
            </a:r>
            <a:r>
              <a:rPr lang="en-US" dirty="0"/>
              <a:t> for autonomous indoor navigation. The robot measures Wi-Fi RSSI from a stationary signal platform and iteratively moves in the direction of increasing signal strength to reach the target. Obstacle avoidance and motion stability are ensured using sensors.</a:t>
            </a:r>
          </a:p>
          <a:p>
            <a:pPr>
              <a:buFont typeface="Arial" panose="020B0604020202020204" pitchFamily="34" charset="0"/>
              <a:buChar char="•"/>
            </a:pPr>
            <a:r>
              <a:rPr lang="en-US" b="1" dirty="0"/>
              <a:t>   </a:t>
            </a:r>
            <a:r>
              <a:rPr lang="en-IN" b="1" dirty="0"/>
              <a:t>Hardware</a:t>
            </a:r>
          </a:p>
          <a:p>
            <a:pPr lvl="1">
              <a:buFont typeface="Arial" panose="020B0604020202020204" pitchFamily="34" charset="0"/>
              <a:buChar char="•"/>
            </a:pPr>
            <a:r>
              <a:rPr lang="en-IN" dirty="0"/>
              <a:t>ESP32 microcontroller</a:t>
            </a:r>
          </a:p>
          <a:p>
            <a:pPr lvl="1">
              <a:buFont typeface="Arial" panose="020B0604020202020204" pitchFamily="34" charset="0"/>
              <a:buChar char="•"/>
            </a:pPr>
            <a:r>
              <a:rPr lang="en-IN" dirty="0"/>
              <a:t>TB6612FNG motor driver</a:t>
            </a:r>
          </a:p>
          <a:p>
            <a:pPr lvl="1">
              <a:buFont typeface="Arial" panose="020B0604020202020204" pitchFamily="34" charset="0"/>
              <a:buChar char="•"/>
            </a:pPr>
            <a:r>
              <a:rPr lang="en-IN" dirty="0"/>
              <a:t>DC BO motors</a:t>
            </a:r>
          </a:p>
          <a:p>
            <a:pPr lvl="1">
              <a:buFont typeface="Arial" panose="020B0604020202020204" pitchFamily="34" charset="0"/>
              <a:buChar char="•"/>
            </a:pPr>
            <a:r>
              <a:rPr lang="en-IN" dirty="0"/>
              <a:t>Ultrasonic &amp; IR sensors</a:t>
            </a:r>
          </a:p>
          <a:p>
            <a:pPr lvl="1">
              <a:buFont typeface="Arial" panose="020B0604020202020204" pitchFamily="34" charset="0"/>
              <a:buChar char="•"/>
            </a:pPr>
            <a:r>
              <a:rPr lang="en-IN" dirty="0"/>
              <a:t>MPU6050 IMU</a:t>
            </a:r>
          </a:p>
          <a:p>
            <a:pPr lvl="1">
              <a:buFont typeface="Arial" panose="020B0604020202020204" pitchFamily="34" charset="0"/>
              <a:buChar char="•"/>
            </a:pPr>
            <a:r>
              <a:rPr lang="en-IN" dirty="0"/>
              <a:t>Li-ion battery with buck converter</a:t>
            </a:r>
          </a:p>
          <a:p>
            <a:pPr marL="285750" indent="-285750">
              <a:buFont typeface="Arial" panose="020B0604020202020204" pitchFamily="34" charset="0"/>
              <a:buChar char="•"/>
            </a:pPr>
            <a:r>
              <a:rPr lang="en-IN" b="1" dirty="0"/>
              <a:t>Software</a:t>
            </a:r>
          </a:p>
          <a:p>
            <a:pPr marL="742950" lvl="1" indent="-285750">
              <a:buFont typeface="Arial" panose="020B0604020202020204" pitchFamily="34" charset="0"/>
              <a:buChar char="•"/>
            </a:pPr>
            <a:r>
              <a:rPr lang="en-IN" dirty="0"/>
              <a:t>Arduino IDE</a:t>
            </a:r>
          </a:p>
          <a:p>
            <a:pPr marL="742950" lvl="1" indent="-285750">
              <a:buFont typeface="Arial" panose="020B0604020202020204" pitchFamily="34" charset="0"/>
              <a:buChar char="•"/>
            </a:pPr>
            <a:r>
              <a:rPr lang="en-IN" dirty="0"/>
              <a:t>ESP32 Wi-Fi libraries</a:t>
            </a:r>
          </a:p>
          <a:p>
            <a:pPr marL="742950" lvl="1" indent="-285750">
              <a:buFont typeface="Arial" panose="020B0604020202020204" pitchFamily="34" charset="0"/>
              <a:buChar char="•"/>
            </a:pPr>
            <a:r>
              <a:rPr lang="en-IN" dirty="0"/>
              <a:t>Embedded C/C++</a:t>
            </a:r>
            <a:endParaRPr lang="en-IN" b="1" dirty="0"/>
          </a:p>
          <a:p>
            <a:pPr marL="285750" indent="-285750">
              <a:buFont typeface="Arial" panose="020B0604020202020204" pitchFamily="34" charset="0"/>
              <a:buChar char="•"/>
            </a:pPr>
            <a:r>
              <a:rPr lang="en-IN" b="1" dirty="0"/>
              <a:t>Flowchart</a:t>
            </a:r>
            <a:r>
              <a:rPr lang="en-US" dirty="0">
                <a:solidFill>
                  <a:srgbClr val="374151"/>
                </a:solidFill>
                <a:latin typeface="Söhne"/>
              </a:rPr>
              <a:t>                 </a:t>
            </a:r>
            <a:r>
              <a:rPr lang="en-US" sz="1400" dirty="0">
                <a:solidFill>
                  <a:srgbClr val="0070C0"/>
                </a:solidFill>
                <a:latin typeface="Söhne"/>
              </a:rPr>
              <a:t>Signal Platform </a:t>
            </a:r>
            <a:r>
              <a:rPr lang="en-US" sz="1400" dirty="0">
                <a:solidFill>
                  <a:srgbClr val="FF0000"/>
                </a:solidFill>
                <a:latin typeface="Söhne"/>
              </a:rPr>
              <a:t>→</a:t>
            </a:r>
            <a:r>
              <a:rPr lang="en-US" sz="1400" dirty="0">
                <a:solidFill>
                  <a:srgbClr val="374151"/>
                </a:solidFill>
                <a:latin typeface="Söhne"/>
              </a:rPr>
              <a:t> </a:t>
            </a:r>
            <a:r>
              <a:rPr lang="en-US" sz="1400" dirty="0">
                <a:solidFill>
                  <a:srgbClr val="0070C0"/>
                </a:solidFill>
                <a:latin typeface="Söhne"/>
              </a:rPr>
              <a:t>RSSI</a:t>
            </a:r>
            <a:r>
              <a:rPr lang="en-US" sz="1400" dirty="0">
                <a:solidFill>
                  <a:srgbClr val="374151"/>
                </a:solidFill>
                <a:latin typeface="Söhne"/>
              </a:rPr>
              <a:t> </a:t>
            </a:r>
            <a:r>
              <a:rPr lang="en-US" sz="1400" dirty="0">
                <a:solidFill>
                  <a:srgbClr val="FF0000"/>
                </a:solidFill>
                <a:latin typeface="Söhne"/>
              </a:rPr>
              <a:t>→</a:t>
            </a:r>
            <a:r>
              <a:rPr lang="en-US" sz="1400" dirty="0">
                <a:solidFill>
                  <a:srgbClr val="374151"/>
                </a:solidFill>
                <a:latin typeface="Söhne"/>
              </a:rPr>
              <a:t> </a:t>
            </a:r>
            <a:r>
              <a:rPr lang="en-US" sz="1400" dirty="0">
                <a:solidFill>
                  <a:srgbClr val="0070C0"/>
                </a:solidFill>
                <a:latin typeface="Söhne"/>
              </a:rPr>
              <a:t>ESP32</a:t>
            </a:r>
            <a:r>
              <a:rPr lang="en-US" sz="1400" dirty="0">
                <a:solidFill>
                  <a:srgbClr val="374151"/>
                </a:solidFill>
                <a:latin typeface="Söhne"/>
              </a:rPr>
              <a:t> </a:t>
            </a:r>
            <a:r>
              <a:rPr lang="en-US" sz="1400" dirty="0">
                <a:solidFill>
                  <a:srgbClr val="FF0000"/>
                </a:solidFill>
                <a:latin typeface="Söhne"/>
              </a:rPr>
              <a:t>→</a:t>
            </a:r>
            <a:r>
              <a:rPr lang="en-US" sz="1400" dirty="0">
                <a:solidFill>
                  <a:srgbClr val="374151"/>
                </a:solidFill>
                <a:latin typeface="Söhne"/>
              </a:rPr>
              <a:t> </a:t>
            </a:r>
            <a:r>
              <a:rPr lang="en-US" sz="1400" dirty="0">
                <a:solidFill>
                  <a:srgbClr val="0070C0"/>
                </a:solidFill>
                <a:latin typeface="Söhne"/>
              </a:rPr>
              <a:t>Motor Driver </a:t>
            </a:r>
            <a:r>
              <a:rPr lang="en-US" sz="1400" dirty="0">
                <a:solidFill>
                  <a:srgbClr val="FF0000"/>
                </a:solidFill>
                <a:latin typeface="Söhne"/>
              </a:rPr>
              <a:t>→</a:t>
            </a:r>
            <a:r>
              <a:rPr lang="en-US" sz="1400" dirty="0">
                <a:solidFill>
                  <a:srgbClr val="374151"/>
                </a:solidFill>
                <a:latin typeface="Söhne"/>
              </a:rPr>
              <a:t> </a:t>
            </a:r>
            <a:r>
              <a:rPr lang="en-US" sz="1400" dirty="0">
                <a:solidFill>
                  <a:srgbClr val="0070C0"/>
                </a:solidFill>
                <a:latin typeface="Söhne"/>
              </a:rPr>
              <a:t>Motors Movements</a:t>
            </a:r>
          </a:p>
          <a:p>
            <a:pPr algn="ctr"/>
            <a:r>
              <a:rPr lang="en-US" sz="1400" dirty="0">
                <a:solidFill>
                  <a:srgbClr val="374151"/>
                </a:solidFill>
                <a:latin typeface="Söhne"/>
              </a:rPr>
              <a:t>  </a:t>
            </a:r>
            <a:r>
              <a:rPr lang="en-US" sz="1400" dirty="0">
                <a:solidFill>
                  <a:srgbClr val="FF0000"/>
                </a:solidFill>
                <a:latin typeface="Söhne"/>
              </a:rPr>
              <a:t>↑</a:t>
            </a:r>
          </a:p>
          <a:p>
            <a:pPr algn="ctr"/>
            <a:r>
              <a:rPr lang="en-US" sz="1400" dirty="0">
                <a:solidFill>
                  <a:srgbClr val="0070C0"/>
                </a:solidFill>
                <a:latin typeface="Söhne"/>
              </a:rPr>
              <a:t>Ultrasonic / IR / IMU Sensors</a:t>
            </a:r>
          </a:p>
          <a:p>
            <a:r>
              <a:rPr lang="en-US" b="0" i="0" dirty="0">
                <a:solidFill>
                  <a:srgbClr val="374151"/>
                </a:solidFill>
                <a:effectLst/>
                <a:latin typeface="Söhne"/>
              </a:rPr>
              <a:t>            </a:t>
            </a:r>
          </a:p>
        </p:txBody>
      </p:sp>
    </p:spTree>
    <p:extLst>
      <p:ext uri="{BB962C8B-B14F-4D97-AF65-F5344CB8AC3E}">
        <p14:creationId xmlns:p14="http://schemas.microsoft.com/office/powerpoint/2010/main" val="10998783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03414" y="298973"/>
            <a:ext cx="684484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Expected Results &amp; Impact</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2D836585-EE14-DE97-1640-A204F338D1D7}"/>
              </a:ext>
            </a:extLst>
          </p:cNvPr>
          <p:cNvSpPr txBox="1"/>
          <p:nvPr/>
        </p:nvSpPr>
        <p:spPr>
          <a:xfrm>
            <a:off x="251520" y="1293834"/>
            <a:ext cx="8496944" cy="4524315"/>
          </a:xfrm>
          <a:prstGeom prst="rect">
            <a:avLst/>
          </a:prstGeom>
          <a:noFill/>
        </p:spPr>
        <p:txBody>
          <a:bodyPr wrap="square" rtlCol="0">
            <a:spAutoFit/>
          </a:bodyPr>
          <a:lstStyle/>
          <a:p>
            <a:r>
              <a:rPr lang="en-US" b="1" dirty="0"/>
              <a:t>Expected Results</a:t>
            </a:r>
          </a:p>
          <a:p>
            <a:pPr marL="285750" indent="-285750">
              <a:buFont typeface="Arial" panose="020B0604020202020204" pitchFamily="34" charset="0"/>
              <a:buChar char="•"/>
            </a:pPr>
            <a:r>
              <a:rPr lang="en-US" dirty="0"/>
              <a:t>Successful </a:t>
            </a:r>
            <a:r>
              <a:rPr lang="en-US" b="1" dirty="0"/>
              <a:t>autonomous navigation</a:t>
            </a:r>
            <a:r>
              <a:rPr lang="en-US" dirty="0"/>
              <a:t> of the robot toward a wireless signal source using RSSI measurements.</a:t>
            </a:r>
          </a:p>
          <a:p>
            <a:pPr marL="285750" indent="-285750">
              <a:buFont typeface="Arial" panose="020B0604020202020204" pitchFamily="34" charset="0"/>
              <a:buChar char="•"/>
            </a:pPr>
            <a:r>
              <a:rPr lang="en-US" dirty="0"/>
              <a:t>Gradual and consistent </a:t>
            </a:r>
            <a:r>
              <a:rPr lang="en-US" b="1" dirty="0"/>
              <a:t>increase in RSSI values</a:t>
            </a:r>
            <a:r>
              <a:rPr lang="en-US" dirty="0"/>
              <a:t> as the robot approaches the target.</a:t>
            </a:r>
          </a:p>
          <a:p>
            <a:pPr marL="285750" indent="-285750">
              <a:buFont typeface="Arial" panose="020B0604020202020204" pitchFamily="34" charset="0"/>
              <a:buChar char="•"/>
            </a:pPr>
            <a:r>
              <a:rPr lang="en-US" b="1" dirty="0"/>
              <a:t>Stable movement and accurate turning</a:t>
            </a:r>
            <a:r>
              <a:rPr lang="en-US" dirty="0"/>
              <a:t> with the help of IMU feedback.</a:t>
            </a:r>
          </a:p>
          <a:p>
            <a:pPr marL="285750" indent="-285750">
              <a:buFont typeface="Arial" panose="020B0604020202020204" pitchFamily="34" charset="0"/>
              <a:buChar char="•"/>
            </a:pPr>
            <a:r>
              <a:rPr lang="en-US" b="1" dirty="0"/>
              <a:t>Effective obstacle detection and avoidance</a:t>
            </a:r>
            <a:r>
              <a:rPr lang="en-US" dirty="0"/>
              <a:t> using ultrasonic and IR sensors.</a:t>
            </a:r>
          </a:p>
          <a:p>
            <a:pPr marL="285750" indent="-285750">
              <a:buFont typeface="Arial" panose="020B0604020202020204" pitchFamily="34" charset="0"/>
              <a:buChar char="•"/>
            </a:pPr>
            <a:r>
              <a:rPr lang="en-US" dirty="0"/>
              <a:t>Reliable operation in </a:t>
            </a:r>
            <a:r>
              <a:rPr lang="en-US" b="1" dirty="0"/>
              <a:t>indoor environments</a:t>
            </a:r>
            <a:r>
              <a:rPr lang="en-US" dirty="0"/>
              <a:t> without GPS or vision systems.</a:t>
            </a:r>
          </a:p>
          <a:p>
            <a:pPr marL="285750" indent="-285750">
              <a:buFont typeface="Arial" panose="020B0604020202020204" pitchFamily="34" charset="0"/>
              <a:buChar char="•"/>
            </a:pPr>
            <a:r>
              <a:rPr lang="en-US" dirty="0"/>
              <a:t>Low power consumption and </a:t>
            </a:r>
            <a:r>
              <a:rPr lang="en-US" b="1" dirty="0"/>
              <a:t>cost-effective system performance</a:t>
            </a:r>
            <a:r>
              <a:rPr lang="en-US" dirty="0"/>
              <a:t>.</a:t>
            </a:r>
          </a:p>
          <a:p>
            <a:endParaRPr lang="en-US" b="1" dirty="0"/>
          </a:p>
          <a:p>
            <a:r>
              <a:rPr lang="en-US" b="1" dirty="0"/>
              <a:t>Impact of Project</a:t>
            </a:r>
          </a:p>
          <a:p>
            <a:pPr marL="285750" indent="-285750">
              <a:buFont typeface="Arial" panose="020B0604020202020204" pitchFamily="34" charset="0"/>
              <a:buChar char="•"/>
            </a:pPr>
            <a:r>
              <a:rPr lang="en-US" dirty="0"/>
              <a:t>Demonstrates a </a:t>
            </a:r>
            <a:r>
              <a:rPr lang="en-US" b="1" dirty="0"/>
              <a:t>low-cost alternative</a:t>
            </a:r>
            <a:r>
              <a:rPr lang="en-US" dirty="0"/>
              <a:t> to GPS and vision-based navigation systems.</a:t>
            </a:r>
          </a:p>
          <a:p>
            <a:pPr marL="285750" indent="-285750">
              <a:buFont typeface="Arial" panose="020B0604020202020204" pitchFamily="34" charset="0"/>
              <a:buChar char="•"/>
            </a:pPr>
            <a:r>
              <a:rPr lang="en-IN" dirty="0"/>
              <a:t>Provides a practical implementation of </a:t>
            </a:r>
            <a:r>
              <a:rPr lang="en-IN" b="1" dirty="0"/>
              <a:t>optimization concepts (gradient descent)</a:t>
            </a:r>
            <a:r>
              <a:rPr lang="en-IN" dirty="0"/>
              <a:t> in robotics.</a:t>
            </a:r>
          </a:p>
          <a:p>
            <a:pPr marL="285750" indent="-285750">
              <a:buFont typeface="Arial" panose="020B0604020202020204" pitchFamily="34" charset="0"/>
              <a:buChar char="•"/>
            </a:pPr>
            <a:r>
              <a:rPr lang="en-US" dirty="0"/>
              <a:t>Enables easy </a:t>
            </a:r>
            <a:r>
              <a:rPr lang="en-US" b="1" dirty="0"/>
              <a:t>scalability</a:t>
            </a:r>
            <a:r>
              <a:rPr lang="en-US" dirty="0"/>
              <a:t> for multi-robot or swarm-based navigation systems.</a:t>
            </a:r>
          </a:p>
          <a:p>
            <a:pPr marL="285750" indent="-285750">
              <a:buFont typeface="Arial" panose="020B0604020202020204" pitchFamily="34" charset="0"/>
              <a:buChar char="•"/>
            </a:pPr>
            <a:r>
              <a:rPr lang="en-US" dirty="0"/>
              <a:t>Applicable to </a:t>
            </a:r>
            <a:r>
              <a:rPr lang="en-US" b="1" dirty="0"/>
              <a:t>indoor navigation, research, and academic demonstrations</a:t>
            </a:r>
            <a:r>
              <a:rPr lang="en-US" dirty="0"/>
              <a:t>.</a:t>
            </a:r>
          </a:p>
          <a:p>
            <a:pPr marL="285750" indent="-285750">
              <a:buFont typeface="Arial" panose="020B0604020202020204" pitchFamily="34" charset="0"/>
              <a:buChar char="•"/>
            </a:pPr>
            <a:r>
              <a:rPr lang="en-US" dirty="0"/>
              <a:t>Encourages development of </a:t>
            </a:r>
            <a:r>
              <a:rPr lang="en-US" b="1" dirty="0"/>
              <a:t>resource-efficient and intelligent robotic systems</a:t>
            </a:r>
            <a:r>
              <a:rPr lang="en-US" dirty="0"/>
              <a:t>.</a:t>
            </a:r>
            <a:endParaRPr lang="en-IN" dirty="0"/>
          </a:p>
        </p:txBody>
      </p:sp>
    </p:spTree>
    <p:extLst>
      <p:ext uri="{BB962C8B-B14F-4D97-AF65-F5344CB8AC3E}">
        <p14:creationId xmlns:p14="http://schemas.microsoft.com/office/powerpoint/2010/main" val="2562604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D42DB-FF71-D8E6-630F-399C60C5361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2FB631E-E469-C80D-C58A-99E545F3785B}"/>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3B6D9598-AD90-B9CA-8610-998CE22F1CA3}"/>
              </a:ext>
            </a:extLst>
          </p:cNvPr>
          <p:cNvSpPr>
            <a:spLocks noChangeArrowheads="1"/>
          </p:cNvSpPr>
          <p:nvPr/>
        </p:nvSpPr>
        <p:spPr bwMode="auto">
          <a:xfrm>
            <a:off x="103414" y="298973"/>
            <a:ext cx="684484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Timeline</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1362D34C-9176-DD2A-8AAF-507BD46BD710}"/>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066F8A4-300F-9AE0-4A5E-2A2D19A8A54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graphicFrame>
        <p:nvGraphicFramePr>
          <p:cNvPr id="8" name="Table 7">
            <a:extLst>
              <a:ext uri="{FF2B5EF4-FFF2-40B4-BE49-F238E27FC236}">
                <a16:creationId xmlns:a16="http://schemas.microsoft.com/office/drawing/2014/main" id="{B68FFC91-0CB3-41E8-DBB9-166C45AD9F1C}"/>
              </a:ext>
            </a:extLst>
          </p:cNvPr>
          <p:cNvGraphicFramePr>
            <a:graphicFrameLocks noGrp="1"/>
          </p:cNvGraphicFramePr>
          <p:nvPr>
            <p:extLst>
              <p:ext uri="{D42A27DB-BD31-4B8C-83A1-F6EECF244321}">
                <p14:modId xmlns:p14="http://schemas.microsoft.com/office/powerpoint/2010/main" val="3803227965"/>
              </p:ext>
            </p:extLst>
          </p:nvPr>
        </p:nvGraphicFramePr>
        <p:xfrm>
          <a:off x="647564" y="1337898"/>
          <a:ext cx="7848872" cy="4915635"/>
        </p:xfrm>
        <a:graphic>
          <a:graphicData uri="http://schemas.openxmlformats.org/drawingml/2006/table">
            <a:tbl>
              <a:tblPr firstRow="1" firstCol="1">
                <a:tableStyleId>{5C22544A-7EE6-4342-B048-85BDC9FD1C3A}</a:tableStyleId>
              </a:tblPr>
              <a:tblGrid>
                <a:gridCol w="1080120">
                  <a:extLst>
                    <a:ext uri="{9D8B030D-6E8A-4147-A177-3AD203B41FA5}">
                      <a16:colId xmlns:a16="http://schemas.microsoft.com/office/drawing/2014/main" val="4024813227"/>
                    </a:ext>
                  </a:extLst>
                </a:gridCol>
                <a:gridCol w="2844316">
                  <a:extLst>
                    <a:ext uri="{9D8B030D-6E8A-4147-A177-3AD203B41FA5}">
                      <a16:colId xmlns:a16="http://schemas.microsoft.com/office/drawing/2014/main" val="929735975"/>
                    </a:ext>
                  </a:extLst>
                </a:gridCol>
                <a:gridCol w="1116124">
                  <a:extLst>
                    <a:ext uri="{9D8B030D-6E8A-4147-A177-3AD203B41FA5}">
                      <a16:colId xmlns:a16="http://schemas.microsoft.com/office/drawing/2014/main" val="4033119387"/>
                    </a:ext>
                  </a:extLst>
                </a:gridCol>
                <a:gridCol w="2808312">
                  <a:extLst>
                    <a:ext uri="{9D8B030D-6E8A-4147-A177-3AD203B41FA5}">
                      <a16:colId xmlns:a16="http://schemas.microsoft.com/office/drawing/2014/main" val="4006936465"/>
                    </a:ext>
                  </a:extLst>
                </a:gridCol>
              </a:tblGrid>
              <a:tr h="230328">
                <a:tc>
                  <a:txBody>
                    <a:bodyPr/>
                    <a:lstStyle/>
                    <a:p>
                      <a:pPr>
                        <a:buNone/>
                      </a:pPr>
                      <a:r>
                        <a:rPr lang="en-IN" sz="1200" dirty="0"/>
                        <a:t>Phase</a:t>
                      </a:r>
                    </a:p>
                  </a:txBody>
                  <a:tcPr marL="39017" marR="39017" marT="19508" marB="19508" anchor="ctr"/>
                </a:tc>
                <a:tc>
                  <a:txBody>
                    <a:bodyPr/>
                    <a:lstStyle/>
                    <a:p>
                      <a:pPr>
                        <a:buNone/>
                      </a:pPr>
                      <a:r>
                        <a:rPr lang="en-IN" sz="1200"/>
                        <a:t>Phase Name</a:t>
                      </a:r>
                    </a:p>
                  </a:txBody>
                  <a:tcPr marL="39017" marR="39017" marT="19508" marB="19508" anchor="ctr"/>
                </a:tc>
                <a:tc>
                  <a:txBody>
                    <a:bodyPr/>
                    <a:lstStyle/>
                    <a:p>
                      <a:pPr>
                        <a:buNone/>
                      </a:pPr>
                      <a:r>
                        <a:rPr lang="en-IN" sz="1200"/>
                        <a:t>Weeks</a:t>
                      </a:r>
                    </a:p>
                  </a:txBody>
                  <a:tcPr marL="39017" marR="39017" marT="19508" marB="19508" anchor="ctr"/>
                </a:tc>
                <a:tc>
                  <a:txBody>
                    <a:bodyPr/>
                    <a:lstStyle/>
                    <a:p>
                      <a:pPr>
                        <a:buNone/>
                      </a:pPr>
                      <a:r>
                        <a:rPr lang="en-IN" sz="1200"/>
                        <a:t>Key Activities</a:t>
                      </a:r>
                    </a:p>
                  </a:txBody>
                  <a:tcPr marL="39017" marR="39017" marT="19508" marB="19508" anchor="ctr"/>
                </a:tc>
                <a:extLst>
                  <a:ext uri="{0D108BD9-81ED-4DB2-BD59-A6C34878D82A}">
                    <a16:rowId xmlns:a16="http://schemas.microsoft.com/office/drawing/2014/main" val="2357722867"/>
                  </a:ext>
                </a:extLst>
              </a:tr>
              <a:tr h="794830">
                <a:tc>
                  <a:txBody>
                    <a:bodyPr/>
                    <a:lstStyle/>
                    <a:p>
                      <a:pPr>
                        <a:buNone/>
                      </a:pPr>
                      <a:r>
                        <a:rPr lang="en-IN" sz="1200" dirty="0"/>
                        <a:t>Phase 1</a:t>
                      </a:r>
                    </a:p>
                  </a:txBody>
                  <a:tcPr marL="39017" marR="39017" marT="19508" marB="19508" anchor="ctr"/>
                </a:tc>
                <a:tc>
                  <a:txBody>
                    <a:bodyPr/>
                    <a:lstStyle/>
                    <a:p>
                      <a:pPr>
                        <a:buNone/>
                      </a:pPr>
                      <a:r>
                        <a:rPr lang="en-IN" sz="1200" dirty="0"/>
                        <a:t>Problem Definition &amp; Planning</a:t>
                      </a:r>
                    </a:p>
                  </a:txBody>
                  <a:tcPr marL="39017" marR="39017" marT="19508" marB="19508" anchor="ctr"/>
                </a:tc>
                <a:tc>
                  <a:txBody>
                    <a:bodyPr/>
                    <a:lstStyle/>
                    <a:p>
                      <a:pPr>
                        <a:buNone/>
                      </a:pPr>
                      <a:r>
                        <a:rPr lang="en-IN" sz="1200"/>
                        <a:t>Week 1</a:t>
                      </a:r>
                    </a:p>
                  </a:txBody>
                  <a:tcPr marL="39017" marR="39017" marT="19508" marB="19508" anchor="ctr"/>
                </a:tc>
                <a:tc>
                  <a:txBody>
                    <a:bodyPr/>
                    <a:lstStyle/>
                    <a:p>
                      <a:pPr>
                        <a:buNone/>
                      </a:pPr>
                      <a:r>
                        <a:rPr lang="en-US" sz="1200"/>
                        <a:t>Problem understanding, literature review, finalizing objectives, scope, architecture design</a:t>
                      </a:r>
                    </a:p>
                  </a:txBody>
                  <a:tcPr marL="39017" marR="39017" marT="19508" marB="19508" anchor="ctr"/>
                </a:tc>
                <a:extLst>
                  <a:ext uri="{0D108BD9-81ED-4DB2-BD59-A6C34878D82A}">
                    <a16:rowId xmlns:a16="http://schemas.microsoft.com/office/drawing/2014/main" val="540137643"/>
                  </a:ext>
                </a:extLst>
              </a:tr>
              <a:tr h="543830">
                <a:tc>
                  <a:txBody>
                    <a:bodyPr/>
                    <a:lstStyle/>
                    <a:p>
                      <a:pPr>
                        <a:buNone/>
                      </a:pPr>
                      <a:r>
                        <a:rPr lang="en-IN" sz="1200" dirty="0"/>
                        <a:t>Phase 2</a:t>
                      </a:r>
                    </a:p>
                  </a:txBody>
                  <a:tcPr marL="39017" marR="39017" marT="19508" marB="19508" anchor="ctr"/>
                </a:tc>
                <a:tc>
                  <a:txBody>
                    <a:bodyPr/>
                    <a:lstStyle/>
                    <a:p>
                      <a:pPr>
                        <a:buNone/>
                      </a:pPr>
                      <a:r>
                        <a:rPr lang="en-IN" sz="1200"/>
                        <a:t>Hardware Selection &amp; Procurement</a:t>
                      </a:r>
                    </a:p>
                  </a:txBody>
                  <a:tcPr marL="39017" marR="39017" marT="19508" marB="19508" anchor="ctr"/>
                </a:tc>
                <a:tc>
                  <a:txBody>
                    <a:bodyPr/>
                    <a:lstStyle/>
                    <a:p>
                      <a:pPr>
                        <a:buNone/>
                      </a:pPr>
                      <a:r>
                        <a:rPr lang="en-IN" sz="1200"/>
                        <a:t>Week 2</a:t>
                      </a:r>
                    </a:p>
                  </a:txBody>
                  <a:tcPr marL="39017" marR="39017" marT="19508" marB="19508" anchor="ctr"/>
                </a:tc>
                <a:tc>
                  <a:txBody>
                    <a:bodyPr/>
                    <a:lstStyle/>
                    <a:p>
                      <a:pPr>
                        <a:buNone/>
                      </a:pPr>
                      <a:r>
                        <a:rPr lang="en-US" sz="1200" dirty="0"/>
                        <a:t>Selection and purchase of ESP32, sensors, motors, power components</a:t>
                      </a:r>
                    </a:p>
                  </a:txBody>
                  <a:tcPr marL="39017" marR="39017" marT="19508" marB="19508" anchor="ctr"/>
                </a:tc>
                <a:extLst>
                  <a:ext uri="{0D108BD9-81ED-4DB2-BD59-A6C34878D82A}">
                    <a16:rowId xmlns:a16="http://schemas.microsoft.com/office/drawing/2014/main" val="3217961271"/>
                  </a:ext>
                </a:extLst>
              </a:tr>
              <a:tr h="669329">
                <a:tc>
                  <a:txBody>
                    <a:bodyPr/>
                    <a:lstStyle/>
                    <a:p>
                      <a:pPr>
                        <a:buNone/>
                      </a:pPr>
                      <a:r>
                        <a:rPr lang="en-IN" sz="1200"/>
                        <a:t>Phase 3</a:t>
                      </a:r>
                    </a:p>
                  </a:txBody>
                  <a:tcPr marL="39017" marR="39017" marT="19508" marB="19508" anchor="ctr"/>
                </a:tc>
                <a:tc>
                  <a:txBody>
                    <a:bodyPr/>
                    <a:lstStyle/>
                    <a:p>
                      <a:pPr>
                        <a:buNone/>
                      </a:pPr>
                      <a:r>
                        <a:rPr lang="en-IN" sz="1200"/>
                        <a:t>Hardware Assembly &amp; Wiring</a:t>
                      </a:r>
                    </a:p>
                  </a:txBody>
                  <a:tcPr marL="39017" marR="39017" marT="19508" marB="19508" anchor="ctr"/>
                </a:tc>
                <a:tc>
                  <a:txBody>
                    <a:bodyPr/>
                    <a:lstStyle/>
                    <a:p>
                      <a:pPr>
                        <a:buNone/>
                      </a:pPr>
                      <a:r>
                        <a:rPr lang="en-IN" sz="1200"/>
                        <a:t>Week 3</a:t>
                      </a:r>
                    </a:p>
                  </a:txBody>
                  <a:tcPr marL="39017" marR="39017" marT="19508" marB="19508" anchor="ctr"/>
                </a:tc>
                <a:tc>
                  <a:txBody>
                    <a:bodyPr/>
                    <a:lstStyle/>
                    <a:p>
                      <a:pPr>
                        <a:buNone/>
                      </a:pPr>
                      <a:r>
                        <a:rPr lang="en-US" sz="1200"/>
                        <a:t>Chassis assembly, wiring of ESP32, motor driver, sensors, and power unit</a:t>
                      </a:r>
                    </a:p>
                  </a:txBody>
                  <a:tcPr marL="39017" marR="39017" marT="19508" marB="19508" anchor="ctr"/>
                </a:tc>
                <a:extLst>
                  <a:ext uri="{0D108BD9-81ED-4DB2-BD59-A6C34878D82A}">
                    <a16:rowId xmlns:a16="http://schemas.microsoft.com/office/drawing/2014/main" val="1286334646"/>
                  </a:ext>
                </a:extLst>
              </a:tr>
              <a:tr h="794830">
                <a:tc>
                  <a:txBody>
                    <a:bodyPr/>
                    <a:lstStyle/>
                    <a:p>
                      <a:pPr>
                        <a:buNone/>
                      </a:pPr>
                      <a:r>
                        <a:rPr lang="en-IN" sz="1200"/>
                        <a:t>Phase 4</a:t>
                      </a:r>
                    </a:p>
                  </a:txBody>
                  <a:tcPr marL="39017" marR="39017" marT="19508" marB="19508" anchor="ctr"/>
                </a:tc>
                <a:tc>
                  <a:txBody>
                    <a:bodyPr/>
                    <a:lstStyle/>
                    <a:p>
                      <a:pPr>
                        <a:buNone/>
                      </a:pPr>
                      <a:r>
                        <a:rPr lang="en-IN" sz="1200"/>
                        <a:t>Software Development</a:t>
                      </a:r>
                    </a:p>
                  </a:txBody>
                  <a:tcPr marL="39017" marR="39017" marT="19508" marB="19508" anchor="ctr"/>
                </a:tc>
                <a:tc>
                  <a:txBody>
                    <a:bodyPr/>
                    <a:lstStyle/>
                    <a:p>
                      <a:pPr>
                        <a:buNone/>
                      </a:pPr>
                      <a:r>
                        <a:rPr lang="en-IN" sz="1200"/>
                        <a:t>Weeks 4–5</a:t>
                      </a:r>
                    </a:p>
                  </a:txBody>
                  <a:tcPr marL="39017" marR="39017" marT="19508" marB="19508" anchor="ctr"/>
                </a:tc>
                <a:tc>
                  <a:txBody>
                    <a:bodyPr/>
                    <a:lstStyle/>
                    <a:p>
                      <a:pPr>
                        <a:buNone/>
                      </a:pPr>
                      <a:r>
                        <a:rPr lang="en-US" sz="1200"/>
                        <a:t>ESP32 programming, motor control, Wi-Fi RSSI measurement, navigation logic</a:t>
                      </a:r>
                    </a:p>
                  </a:txBody>
                  <a:tcPr marL="39017" marR="39017" marT="19508" marB="19508" anchor="ctr"/>
                </a:tc>
                <a:extLst>
                  <a:ext uri="{0D108BD9-81ED-4DB2-BD59-A6C34878D82A}">
                    <a16:rowId xmlns:a16="http://schemas.microsoft.com/office/drawing/2014/main" val="1934711918"/>
                  </a:ext>
                </a:extLst>
              </a:tr>
              <a:tr h="669329">
                <a:tc>
                  <a:txBody>
                    <a:bodyPr/>
                    <a:lstStyle/>
                    <a:p>
                      <a:pPr>
                        <a:buNone/>
                      </a:pPr>
                      <a:r>
                        <a:rPr lang="en-IN" sz="1200"/>
                        <a:t>Phase 5</a:t>
                      </a:r>
                    </a:p>
                  </a:txBody>
                  <a:tcPr marL="39017" marR="39017" marT="19508" marB="19508" anchor="ctr"/>
                </a:tc>
                <a:tc>
                  <a:txBody>
                    <a:bodyPr/>
                    <a:lstStyle/>
                    <a:p>
                      <a:pPr>
                        <a:buNone/>
                      </a:pPr>
                      <a:r>
                        <a:rPr lang="en-IN" sz="1200"/>
                        <a:t>Sensor &amp; IMU Integration</a:t>
                      </a:r>
                    </a:p>
                  </a:txBody>
                  <a:tcPr marL="39017" marR="39017" marT="19508" marB="19508" anchor="ctr"/>
                </a:tc>
                <a:tc>
                  <a:txBody>
                    <a:bodyPr/>
                    <a:lstStyle/>
                    <a:p>
                      <a:pPr>
                        <a:buNone/>
                      </a:pPr>
                      <a:r>
                        <a:rPr lang="en-IN" sz="1200" dirty="0"/>
                        <a:t>Week 6-8</a:t>
                      </a:r>
                    </a:p>
                  </a:txBody>
                  <a:tcPr marL="39017" marR="39017" marT="19508" marB="19508" anchor="ctr"/>
                </a:tc>
                <a:tc>
                  <a:txBody>
                    <a:bodyPr/>
                    <a:lstStyle/>
                    <a:p>
                      <a:pPr>
                        <a:buNone/>
                      </a:pPr>
                      <a:r>
                        <a:rPr lang="en-IN" sz="1200"/>
                        <a:t>Ultrasonic, IR, and MPU6050 integration, obstacle avoidance implementation</a:t>
                      </a:r>
                    </a:p>
                  </a:txBody>
                  <a:tcPr marL="39017" marR="39017" marT="19508" marB="19508" anchor="ctr"/>
                </a:tc>
                <a:extLst>
                  <a:ext uri="{0D108BD9-81ED-4DB2-BD59-A6C34878D82A}">
                    <a16:rowId xmlns:a16="http://schemas.microsoft.com/office/drawing/2014/main" val="1818692895"/>
                  </a:ext>
                </a:extLst>
              </a:tr>
              <a:tr h="669329">
                <a:tc>
                  <a:txBody>
                    <a:bodyPr/>
                    <a:lstStyle/>
                    <a:p>
                      <a:pPr>
                        <a:buNone/>
                      </a:pPr>
                      <a:r>
                        <a:rPr lang="en-IN" sz="1200"/>
                        <a:t>Phase 6</a:t>
                      </a:r>
                    </a:p>
                  </a:txBody>
                  <a:tcPr marL="39017" marR="39017" marT="19508" marB="19508" anchor="ctr"/>
                </a:tc>
                <a:tc>
                  <a:txBody>
                    <a:bodyPr/>
                    <a:lstStyle/>
                    <a:p>
                      <a:pPr>
                        <a:buNone/>
                      </a:pPr>
                      <a:r>
                        <a:rPr lang="en-IN" sz="1200"/>
                        <a:t>System Integration &amp; Optimization</a:t>
                      </a:r>
                    </a:p>
                  </a:txBody>
                  <a:tcPr marL="39017" marR="39017" marT="19508" marB="19508" anchor="ctr"/>
                </a:tc>
                <a:tc>
                  <a:txBody>
                    <a:bodyPr/>
                    <a:lstStyle/>
                    <a:p>
                      <a:pPr>
                        <a:buNone/>
                      </a:pPr>
                      <a:r>
                        <a:rPr lang="en-IN" sz="1200" dirty="0"/>
                        <a:t>Week 9-10</a:t>
                      </a:r>
                    </a:p>
                  </a:txBody>
                  <a:tcPr marL="39017" marR="39017" marT="19508" marB="19508" anchor="ctr"/>
                </a:tc>
                <a:tc>
                  <a:txBody>
                    <a:bodyPr/>
                    <a:lstStyle/>
                    <a:p>
                      <a:pPr>
                        <a:buNone/>
                      </a:pPr>
                      <a:r>
                        <a:rPr lang="en-US" sz="1200"/>
                        <a:t>Integration of all modules, tuning RSSI thresholds, motion optimization</a:t>
                      </a:r>
                    </a:p>
                  </a:txBody>
                  <a:tcPr marL="39017" marR="39017" marT="19508" marB="19508" anchor="ctr"/>
                </a:tc>
                <a:extLst>
                  <a:ext uri="{0D108BD9-81ED-4DB2-BD59-A6C34878D82A}">
                    <a16:rowId xmlns:a16="http://schemas.microsoft.com/office/drawing/2014/main" val="1556907344"/>
                  </a:ext>
                </a:extLst>
              </a:tr>
              <a:tr h="543830">
                <a:tc>
                  <a:txBody>
                    <a:bodyPr/>
                    <a:lstStyle/>
                    <a:p>
                      <a:pPr>
                        <a:buNone/>
                      </a:pPr>
                      <a:r>
                        <a:rPr lang="en-IN" sz="1200"/>
                        <a:t>Phase 7</a:t>
                      </a:r>
                    </a:p>
                  </a:txBody>
                  <a:tcPr marL="39017" marR="39017" marT="19508" marB="19508" anchor="ctr"/>
                </a:tc>
                <a:tc>
                  <a:txBody>
                    <a:bodyPr/>
                    <a:lstStyle/>
                    <a:p>
                      <a:pPr>
                        <a:buNone/>
                      </a:pPr>
                      <a:r>
                        <a:rPr lang="en-IN" sz="1200"/>
                        <a:t>Testing, Documentation &amp; Presentation</a:t>
                      </a:r>
                    </a:p>
                  </a:txBody>
                  <a:tcPr marL="39017" marR="39017" marT="19508" marB="19508" anchor="ctr"/>
                </a:tc>
                <a:tc>
                  <a:txBody>
                    <a:bodyPr/>
                    <a:lstStyle/>
                    <a:p>
                      <a:pPr>
                        <a:buNone/>
                      </a:pPr>
                      <a:r>
                        <a:rPr lang="en-IN" sz="1200" dirty="0"/>
                        <a:t>Week 10-11</a:t>
                      </a:r>
                    </a:p>
                  </a:txBody>
                  <a:tcPr marL="39017" marR="39017" marT="19508" marB="19508" anchor="ctr"/>
                </a:tc>
                <a:tc>
                  <a:txBody>
                    <a:bodyPr/>
                    <a:lstStyle/>
                    <a:p>
                      <a:pPr>
                        <a:buNone/>
                      </a:pPr>
                      <a:r>
                        <a:rPr lang="en-US" sz="1200" dirty="0"/>
                        <a:t>Final testing, result validation, report writing, PPT and demo preparation</a:t>
                      </a:r>
                    </a:p>
                  </a:txBody>
                  <a:tcPr marL="39017" marR="39017" marT="19508" marB="19508" anchor="ctr"/>
                </a:tc>
                <a:extLst>
                  <a:ext uri="{0D108BD9-81ED-4DB2-BD59-A6C34878D82A}">
                    <a16:rowId xmlns:a16="http://schemas.microsoft.com/office/drawing/2014/main" val="955476991"/>
                  </a:ext>
                </a:extLst>
              </a:tr>
            </a:tbl>
          </a:graphicData>
        </a:graphic>
      </p:graphicFrame>
    </p:spTree>
    <p:extLst>
      <p:ext uri="{BB962C8B-B14F-4D97-AF65-F5344CB8AC3E}">
        <p14:creationId xmlns:p14="http://schemas.microsoft.com/office/powerpoint/2010/main" val="34495082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9180512" cy="6858000"/>
          </a:xfr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1835696" y="2708920"/>
            <a:ext cx="5651034" cy="1200329"/>
          </a:xfrm>
          <a:prstGeom prst="rect">
            <a:avLst/>
          </a:prstGeom>
          <a:noFill/>
        </p:spPr>
        <p:txBody>
          <a:bodyPr wrap="none" rtlCol="0">
            <a:spAutoFit/>
          </a:bodyPr>
          <a:lstStyle/>
          <a:p>
            <a:pPr algn="ctr"/>
            <a:r>
              <a:rPr lang="en-US" sz="7200" dirty="0">
                <a:solidFill>
                  <a:srgbClr val="0060AA"/>
                </a:solidFill>
                <a:latin typeface="Garamond" pitchFamily="18" charset="0"/>
              </a:rPr>
              <a:t>THANK</a:t>
            </a:r>
            <a:r>
              <a:rPr lang="en-US" sz="7200" dirty="0">
                <a:latin typeface="Garamond" pitchFamily="18" charset="0"/>
              </a:rPr>
              <a:t> </a:t>
            </a:r>
            <a:r>
              <a:rPr lang="en-US" sz="7200" dirty="0">
                <a:solidFill>
                  <a:srgbClr val="E31E24"/>
                </a:solidFill>
                <a:latin typeface="Garamond" pitchFamily="18" charset="0"/>
              </a:rPr>
              <a:t>YOU</a:t>
            </a:r>
            <a:endParaRPr lang="en-IN" sz="7200" dirty="0">
              <a:latin typeface="Garamond" pitchFamily="18" charset="0"/>
            </a:endParaRPr>
          </a:p>
        </p:txBody>
      </p:sp>
    </p:spTree>
    <p:extLst>
      <p:ext uri="{BB962C8B-B14F-4D97-AF65-F5344CB8AC3E}">
        <p14:creationId xmlns:p14="http://schemas.microsoft.com/office/powerpoint/2010/main" val="3858198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6571</TotalTime>
  <Words>1354</Words>
  <Application>Microsoft Office PowerPoint</Application>
  <PresentationFormat>On-screen Show (4:3)</PresentationFormat>
  <Paragraphs>152</Paragraphs>
  <Slides>12</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Calibri</vt:lpstr>
      <vt:lpstr>Cambria</vt:lpstr>
      <vt:lpstr>Garamond</vt:lpstr>
      <vt:lpstr>Söhne</vt:lpstr>
      <vt:lpstr>Times New Roman</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WEBDEV</dc:creator>
  <cp:lastModifiedBy>Ram Kumar Singh</cp:lastModifiedBy>
  <cp:revision>313</cp:revision>
  <cp:lastPrinted>2022-09-05T08:43:44Z</cp:lastPrinted>
  <dcterms:created xsi:type="dcterms:W3CDTF">2020-01-16T09:05:56Z</dcterms:created>
  <dcterms:modified xsi:type="dcterms:W3CDTF">2026-02-09T17:12:22Z</dcterms:modified>
</cp:coreProperties>
</file>